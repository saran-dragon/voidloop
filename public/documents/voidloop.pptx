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9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432685" y="376393"/>
            <a:ext cx="7326630" cy="72635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Amaravati Quantum Valley </a:t>
            </a:r>
            <a:b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345690"/>
            <a:ext cx="11494954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AQVH919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Path Planning: Hybrid QAOA Optimization Approach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Logistics: Fleet Optimization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C-17937@238T1A0581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loop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AEEB1-E7BA-82E6-83CB-25556EF81E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11" t="20049" r="21889" b="12417"/>
          <a:stretch>
            <a:fillRect/>
          </a:stretch>
        </p:blipFill>
        <p:spPr>
          <a:xfrm>
            <a:off x="7296791" y="2999142"/>
            <a:ext cx="3371209" cy="3858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EB7E12-24C5-0C70-AC91-944DA1AB2B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4000" b="1" dirty="0"/>
              <a:t>QUANTUM PATH PLANNER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@AQVH2025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38F95B-1959-015C-AA1B-1B0A286DD2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E7F15DEE-BB47-8563-D01D-4C290664E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98" y="1816879"/>
            <a:ext cx="1281684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a simplified TSP/VRP into QUBO model.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QAOA (Quantum Approximate Optimization Algorithm)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quantum simulator.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Hybrid: Classical optimizer fine-tunes parameters.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Uniqueness: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classical &amp; quantum methods.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quantum potential for NP-hard problems.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698A6BC-1488-95B8-C9BC-8F7D6526A044}"/>
              </a:ext>
            </a:extLst>
          </p:cNvPr>
          <p:cNvGrpSpPr/>
          <p:nvPr/>
        </p:nvGrpSpPr>
        <p:grpSpPr>
          <a:xfrm>
            <a:off x="6973829" y="1760322"/>
            <a:ext cx="5334414" cy="3459809"/>
            <a:chOff x="796799" y="566522"/>
            <a:chExt cx="7420373" cy="4899065"/>
          </a:xfrm>
        </p:grpSpPr>
        <p:sp>
          <p:nvSpPr>
            <p:cNvPr id="13" name="Rounded Rectangle 1">
              <a:extLst>
                <a:ext uri="{FF2B5EF4-FFF2-40B4-BE49-F238E27FC236}">
                  <a16:creationId xmlns:a16="http://schemas.microsoft.com/office/drawing/2014/main" id="{AA01AF14-9CA8-153B-E8FD-CEA2D3091B5B}"/>
                </a:ext>
              </a:extLst>
            </p:cNvPr>
            <p:cNvSpPr/>
            <p:nvPr/>
          </p:nvSpPr>
          <p:spPr>
            <a:xfrm>
              <a:off x="4569767" y="2825934"/>
              <a:ext cx="1714500" cy="2639653"/>
            </a:xfrm>
            <a:custGeom>
              <a:avLst/>
              <a:gdLst/>
              <a:ahLst/>
              <a:cxnLst/>
              <a:rect l="0" t="0" r="0" b="0"/>
              <a:pathLst>
                <a:path w="1714500" h="2639653">
                  <a:moveTo>
                    <a:pt x="571500" y="0"/>
                  </a:moveTo>
                  <a:lnTo>
                    <a:pt x="1714500" y="659911"/>
                  </a:lnTo>
                  <a:lnTo>
                    <a:pt x="1714500" y="1979733"/>
                  </a:lnTo>
                  <a:lnTo>
                    <a:pt x="1142990" y="2309698"/>
                  </a:lnTo>
                  <a:lnTo>
                    <a:pt x="571500" y="2639653"/>
                  </a:lnTo>
                  <a:lnTo>
                    <a:pt x="9" y="2309688"/>
                  </a:lnTo>
                  <a:lnTo>
                    <a:pt x="571509" y="1979733"/>
                  </a:lnTo>
                  <a:lnTo>
                    <a:pt x="571509" y="659901"/>
                  </a:lnTo>
                  <a:lnTo>
                    <a:pt x="0" y="329955"/>
                  </a:lnTo>
                  <a:lnTo>
                    <a:pt x="571500" y="0"/>
                  </a:lnTo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2">
              <a:extLst>
                <a:ext uri="{FF2B5EF4-FFF2-40B4-BE49-F238E27FC236}">
                  <a16:creationId xmlns:a16="http://schemas.microsoft.com/office/drawing/2014/main" id="{62F91138-DEF9-0EFD-868F-C86167EABAE2}"/>
                </a:ext>
              </a:extLst>
            </p:cNvPr>
            <p:cNvSpPr/>
            <p:nvPr/>
          </p:nvSpPr>
          <p:spPr>
            <a:xfrm>
              <a:off x="4569767" y="2825934"/>
              <a:ext cx="1714501" cy="2639648"/>
            </a:xfrm>
            <a:custGeom>
              <a:avLst/>
              <a:gdLst/>
              <a:ahLst/>
              <a:cxnLst/>
              <a:rect l="0" t="0" r="0" b="0"/>
              <a:pathLst>
                <a:path w="1714501" h="2639648">
                  <a:moveTo>
                    <a:pt x="571500" y="0"/>
                  </a:moveTo>
                  <a:lnTo>
                    <a:pt x="1714501" y="659912"/>
                  </a:lnTo>
                  <a:lnTo>
                    <a:pt x="1714501" y="1979736"/>
                  </a:lnTo>
                  <a:lnTo>
                    <a:pt x="1142991" y="2309702"/>
                  </a:lnTo>
                  <a:lnTo>
                    <a:pt x="571503" y="2639648"/>
                  </a:lnTo>
                  <a:lnTo>
                    <a:pt x="9" y="2309684"/>
                  </a:lnTo>
                  <a:lnTo>
                    <a:pt x="571509" y="1979729"/>
                  </a:lnTo>
                  <a:lnTo>
                    <a:pt x="571506" y="1319815"/>
                  </a:lnTo>
                  <a:lnTo>
                    <a:pt x="571506" y="659903"/>
                  </a:lnTo>
                  <a:lnTo>
                    <a:pt x="0" y="329955"/>
                  </a:lnTo>
                  <a:lnTo>
                    <a:pt x="571500" y="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3">
              <a:extLst>
                <a:ext uri="{FF2B5EF4-FFF2-40B4-BE49-F238E27FC236}">
                  <a16:creationId xmlns:a16="http://schemas.microsoft.com/office/drawing/2014/main" id="{69328EC5-D9B9-C3F9-BF85-348C0751B414}"/>
                </a:ext>
              </a:extLst>
            </p:cNvPr>
            <p:cNvSpPr/>
            <p:nvPr/>
          </p:nvSpPr>
          <p:spPr>
            <a:xfrm>
              <a:off x="2855276" y="2825925"/>
              <a:ext cx="1714500" cy="2639653"/>
            </a:xfrm>
            <a:custGeom>
              <a:avLst/>
              <a:gdLst/>
              <a:ahLst/>
              <a:cxnLst/>
              <a:rect l="0" t="0" r="0" b="0"/>
              <a:pathLst>
                <a:path w="1714500" h="2639653">
                  <a:moveTo>
                    <a:pt x="0" y="1979733"/>
                  </a:moveTo>
                  <a:lnTo>
                    <a:pt x="0" y="659911"/>
                  </a:lnTo>
                  <a:lnTo>
                    <a:pt x="1143000" y="0"/>
                  </a:lnTo>
                  <a:lnTo>
                    <a:pt x="1714490" y="329965"/>
                  </a:lnTo>
                  <a:lnTo>
                    <a:pt x="1142990" y="659920"/>
                  </a:lnTo>
                  <a:lnTo>
                    <a:pt x="1142990" y="1979752"/>
                  </a:lnTo>
                  <a:lnTo>
                    <a:pt x="1714500" y="2309698"/>
                  </a:lnTo>
                  <a:lnTo>
                    <a:pt x="1143000" y="2639653"/>
                  </a:lnTo>
                  <a:lnTo>
                    <a:pt x="571500" y="2309688"/>
                  </a:lnTo>
                  <a:lnTo>
                    <a:pt x="0" y="1979733"/>
                  </a:lnTo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4">
              <a:extLst>
                <a:ext uri="{FF2B5EF4-FFF2-40B4-BE49-F238E27FC236}">
                  <a16:creationId xmlns:a16="http://schemas.microsoft.com/office/drawing/2014/main" id="{8056BC4F-4EE7-C974-0FE6-84937379846E}"/>
                </a:ext>
              </a:extLst>
            </p:cNvPr>
            <p:cNvSpPr/>
            <p:nvPr/>
          </p:nvSpPr>
          <p:spPr>
            <a:xfrm>
              <a:off x="2855276" y="2825925"/>
              <a:ext cx="1714498" cy="2639651"/>
            </a:xfrm>
            <a:custGeom>
              <a:avLst/>
              <a:gdLst/>
              <a:ahLst/>
              <a:cxnLst/>
              <a:rect l="0" t="0" r="0" b="0"/>
              <a:pathLst>
                <a:path w="1714498" h="2639651">
                  <a:moveTo>
                    <a:pt x="0" y="1979736"/>
                  </a:moveTo>
                  <a:lnTo>
                    <a:pt x="0" y="659912"/>
                  </a:lnTo>
                  <a:lnTo>
                    <a:pt x="1143000" y="0"/>
                  </a:lnTo>
                  <a:lnTo>
                    <a:pt x="1714495" y="329964"/>
                  </a:lnTo>
                  <a:lnTo>
                    <a:pt x="1142995" y="659920"/>
                  </a:lnTo>
                  <a:lnTo>
                    <a:pt x="1142995" y="1319832"/>
                  </a:lnTo>
                  <a:lnTo>
                    <a:pt x="1142997" y="1979747"/>
                  </a:lnTo>
                  <a:lnTo>
                    <a:pt x="1714498" y="2309695"/>
                  </a:lnTo>
                  <a:lnTo>
                    <a:pt x="1142997" y="2639651"/>
                  </a:lnTo>
                  <a:lnTo>
                    <a:pt x="571500" y="2309691"/>
                  </a:lnTo>
                  <a:lnTo>
                    <a:pt x="0" y="1979736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5">
              <a:extLst>
                <a:ext uri="{FF2B5EF4-FFF2-40B4-BE49-F238E27FC236}">
                  <a16:creationId xmlns:a16="http://schemas.microsoft.com/office/drawing/2014/main" id="{78FA49A6-AE9E-1295-6634-F6D8C9D48ACB}"/>
                </a:ext>
              </a:extLst>
            </p:cNvPr>
            <p:cNvSpPr/>
            <p:nvPr/>
          </p:nvSpPr>
          <p:spPr>
            <a:xfrm>
              <a:off x="3998267" y="3155890"/>
              <a:ext cx="1143009" cy="1979723"/>
            </a:xfrm>
            <a:custGeom>
              <a:avLst/>
              <a:gdLst/>
              <a:ahLst/>
              <a:cxnLst/>
              <a:rect l="0" t="0" r="0" b="0"/>
              <a:pathLst>
                <a:path w="1143009" h="1979723">
                  <a:moveTo>
                    <a:pt x="0" y="329955"/>
                  </a:moveTo>
                  <a:lnTo>
                    <a:pt x="571500" y="0"/>
                  </a:lnTo>
                  <a:lnTo>
                    <a:pt x="1143009" y="329945"/>
                  </a:lnTo>
                  <a:lnTo>
                    <a:pt x="1143009" y="1649768"/>
                  </a:lnTo>
                  <a:lnTo>
                    <a:pt x="571509" y="1979723"/>
                  </a:lnTo>
                  <a:lnTo>
                    <a:pt x="9" y="1649777"/>
                  </a:lnTo>
                  <a:lnTo>
                    <a:pt x="9" y="329955"/>
                  </a:ln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6">
              <a:extLst>
                <a:ext uri="{FF2B5EF4-FFF2-40B4-BE49-F238E27FC236}">
                  <a16:creationId xmlns:a16="http://schemas.microsoft.com/office/drawing/2014/main" id="{2791119D-A5AA-7DC8-C4C4-620FEC89B248}"/>
                </a:ext>
              </a:extLst>
            </p:cNvPr>
            <p:cNvSpPr/>
            <p:nvPr/>
          </p:nvSpPr>
          <p:spPr>
            <a:xfrm>
              <a:off x="3998267" y="3155890"/>
              <a:ext cx="1143006" cy="1979726"/>
            </a:xfrm>
            <a:custGeom>
              <a:avLst/>
              <a:gdLst/>
              <a:ahLst/>
              <a:cxnLst/>
              <a:rect l="0" t="0" r="0" b="0"/>
              <a:pathLst>
                <a:path w="1143006" h="1979726">
                  <a:moveTo>
                    <a:pt x="0" y="329955"/>
                  </a:moveTo>
                  <a:lnTo>
                    <a:pt x="571500" y="0"/>
                  </a:lnTo>
                  <a:lnTo>
                    <a:pt x="1143006" y="329947"/>
                  </a:lnTo>
                  <a:lnTo>
                    <a:pt x="1143006" y="989859"/>
                  </a:lnTo>
                  <a:lnTo>
                    <a:pt x="1143006" y="1649770"/>
                  </a:lnTo>
                  <a:lnTo>
                    <a:pt x="571506" y="1979726"/>
                  </a:lnTo>
                  <a:lnTo>
                    <a:pt x="5" y="1649779"/>
                  </a:lnTo>
                  <a:lnTo>
                    <a:pt x="0" y="989867"/>
                  </a:lnTo>
                  <a:lnTo>
                    <a:pt x="0" y="329955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DDD8647-1B62-86E4-8296-B20A470072EC}"/>
                </a:ext>
              </a:extLst>
            </p:cNvPr>
            <p:cNvSpPr txBox="1"/>
            <p:nvPr/>
          </p:nvSpPr>
          <p:spPr>
            <a:xfrm>
              <a:off x="2298911" y="1392412"/>
              <a:ext cx="4541786" cy="3922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endParaRPr sz="1800" b="1" dirty="0">
                <a:solidFill>
                  <a:srgbClr val="484848"/>
                </a:solidFill>
                <a:latin typeface="Roboto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232EA2-9829-47FD-07FC-1F74BF0AFCB3}"/>
                </a:ext>
              </a:extLst>
            </p:cNvPr>
            <p:cNvSpPr txBox="1"/>
            <p:nvPr/>
          </p:nvSpPr>
          <p:spPr>
            <a:xfrm>
              <a:off x="3657938" y="566522"/>
              <a:ext cx="1709290" cy="697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b="1" dirty="0">
                  <a:solidFill>
                    <a:srgbClr val="3CC58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Hybrid Optimization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C95D74A-8707-ACAB-7261-0864FF8635D3}"/>
                </a:ext>
              </a:extLst>
            </p:cNvPr>
            <p:cNvSpPr txBox="1"/>
            <p:nvPr/>
          </p:nvSpPr>
          <p:spPr>
            <a:xfrm>
              <a:off x="3906115" y="1324278"/>
              <a:ext cx="1341539" cy="1394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b="0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Synergistic quantum-
classical solutions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A0104A-5FCE-4B4E-8E62-9575C141E49C}"/>
                </a:ext>
              </a:extLst>
            </p:cNvPr>
            <p:cNvSpPr txBox="1"/>
            <p:nvPr/>
          </p:nvSpPr>
          <p:spPr>
            <a:xfrm>
              <a:off x="796799" y="2859724"/>
              <a:ext cx="1714500" cy="697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b="1" dirty="0">
                  <a:solidFill>
                    <a:srgbClr val="4E88E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Quantum
Optimization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D18CDFF-985F-CC32-CFF0-9A3D47F4B5F5}"/>
                </a:ext>
              </a:extLst>
            </p:cNvPr>
            <p:cNvSpPr txBox="1"/>
            <p:nvPr/>
          </p:nvSpPr>
          <p:spPr>
            <a:xfrm>
              <a:off x="6273870" y="2680552"/>
              <a:ext cx="1714498" cy="697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b="1" dirty="0">
                  <a:solidFill>
                    <a:srgbClr val="DE8431"/>
                  </a:solidFill>
                  <a:latin typeface="Roboto"/>
                </a:rPr>
                <a:t>Classical
Optimization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08E5CA9-8989-9CDE-605D-611602C72667}"/>
                </a:ext>
              </a:extLst>
            </p:cNvPr>
            <p:cNvSpPr txBox="1"/>
            <p:nvPr/>
          </p:nvSpPr>
          <p:spPr>
            <a:xfrm>
              <a:off x="1008814" y="3839669"/>
              <a:ext cx="1846458" cy="1394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b="0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Quantum algorithms for
problem-solving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8BE5E32-0653-2E66-1DFB-C0240FD32C17}"/>
                </a:ext>
              </a:extLst>
            </p:cNvPr>
            <p:cNvSpPr txBox="1"/>
            <p:nvPr/>
          </p:nvSpPr>
          <p:spPr>
            <a:xfrm>
              <a:off x="6322677" y="3612646"/>
              <a:ext cx="1894495" cy="1394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b="0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Traditional methods for
parameter tuning</a:t>
              </a:r>
            </a:p>
          </p:txBody>
        </p:sp>
      </p:grpSp>
      <p:sp>
        <p:nvSpPr>
          <p:cNvPr id="28" name="Oval 27" descr="Your startup LOGO">
            <a:extLst>
              <a:ext uri="{FF2B5EF4-FFF2-40B4-BE49-F238E27FC236}">
                <a16:creationId xmlns:a16="http://schemas.microsoft.com/office/drawing/2014/main" id="{C78126B6-83F0-EF30-59F5-9F196A0A2A9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4" y="176046"/>
            <a:ext cx="1542570" cy="1143000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5225" y="17337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@AQVH2025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5D3A41-DA02-7039-DCFD-C367F543EC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grpSp>
        <p:nvGrpSpPr>
          <p:cNvPr id="17541" name="Group 17540">
            <a:extLst>
              <a:ext uri="{FF2B5EF4-FFF2-40B4-BE49-F238E27FC236}">
                <a16:creationId xmlns:a16="http://schemas.microsoft.com/office/drawing/2014/main" id="{9351CA40-0E1C-C330-080D-0931C19C1D5B}"/>
              </a:ext>
            </a:extLst>
          </p:cNvPr>
          <p:cNvGrpSpPr/>
          <p:nvPr/>
        </p:nvGrpSpPr>
        <p:grpSpPr>
          <a:xfrm>
            <a:off x="4648200" y="1330036"/>
            <a:ext cx="7413959" cy="4865349"/>
            <a:chOff x="1413483" y="1011162"/>
            <a:chExt cx="6510635" cy="5129830"/>
          </a:xfrm>
        </p:grpSpPr>
        <p:sp>
          <p:nvSpPr>
            <p:cNvPr id="17499" name="Rounded Rectangle 1">
              <a:extLst>
                <a:ext uri="{FF2B5EF4-FFF2-40B4-BE49-F238E27FC236}">
                  <a16:creationId xmlns:a16="http://schemas.microsoft.com/office/drawing/2014/main" id="{B249069F-2B45-05D5-413D-70E2691B7625}"/>
                </a:ext>
              </a:extLst>
            </p:cNvPr>
            <p:cNvSpPr/>
            <p:nvPr/>
          </p:nvSpPr>
          <p:spPr>
            <a:xfrm>
              <a:off x="4722046" y="4273038"/>
              <a:ext cx="2166838" cy="753745"/>
            </a:xfrm>
            <a:custGeom>
              <a:avLst/>
              <a:gdLst/>
              <a:ahLst/>
              <a:cxnLst/>
              <a:rect l="0" t="0" r="0" b="0"/>
              <a:pathLst>
                <a:path w="2166838" h="753745">
                  <a:moveTo>
                    <a:pt x="0" y="659527"/>
                  </a:moveTo>
                  <a:lnTo>
                    <a:pt x="1789965" y="659527"/>
                  </a:lnTo>
                  <a:lnTo>
                    <a:pt x="1789965" y="753745"/>
                  </a:lnTo>
                  <a:lnTo>
                    <a:pt x="2166838" y="376872"/>
                  </a:lnTo>
                  <a:lnTo>
                    <a:pt x="1789965" y="0"/>
                  </a:lnTo>
                  <a:lnTo>
                    <a:pt x="1789965" y="94218"/>
                  </a:lnTo>
                  <a:lnTo>
                    <a:pt x="1130422" y="94218"/>
                  </a:lnTo>
                  <a:cubicBezTo>
                    <a:pt x="1028172" y="230544"/>
                    <a:pt x="901629" y="347908"/>
                    <a:pt x="756360" y="439975"/>
                  </a:cubicBezTo>
                  <a:cubicBezTo>
                    <a:pt x="530126" y="583352"/>
                    <a:pt x="267823" y="659488"/>
                    <a:pt x="0" y="659527"/>
                  </a:cubicBezTo>
                </a:path>
              </a:pathLst>
            </a:custGeom>
            <a:solidFill>
              <a:srgbClr val="7F64E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00" name="Rounded Rectangle 2">
              <a:extLst>
                <a:ext uri="{FF2B5EF4-FFF2-40B4-BE49-F238E27FC236}">
                  <a16:creationId xmlns:a16="http://schemas.microsoft.com/office/drawing/2014/main" id="{4EFDAD5C-1925-089E-D581-625CC7F88461}"/>
                </a:ext>
              </a:extLst>
            </p:cNvPr>
            <p:cNvSpPr/>
            <p:nvPr/>
          </p:nvSpPr>
          <p:spPr>
            <a:xfrm>
              <a:off x="4722046" y="4273038"/>
              <a:ext cx="2166835" cy="753745"/>
            </a:xfrm>
            <a:custGeom>
              <a:avLst/>
              <a:gdLst/>
              <a:ahLst/>
              <a:cxnLst/>
              <a:rect l="0" t="0" r="0" b="0"/>
              <a:pathLst>
                <a:path w="2166835" h="753745">
                  <a:moveTo>
                    <a:pt x="0" y="659527"/>
                  </a:moveTo>
                  <a:lnTo>
                    <a:pt x="1789962" y="659527"/>
                  </a:lnTo>
                  <a:lnTo>
                    <a:pt x="1789962" y="753745"/>
                  </a:lnTo>
                  <a:lnTo>
                    <a:pt x="2166835" y="376872"/>
                  </a:lnTo>
                  <a:lnTo>
                    <a:pt x="1789962" y="0"/>
                  </a:lnTo>
                  <a:lnTo>
                    <a:pt x="1789962" y="94218"/>
                  </a:lnTo>
                  <a:lnTo>
                    <a:pt x="1130422" y="94218"/>
                  </a:lnTo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01" name="Rounded Rectangle 3">
              <a:extLst>
                <a:ext uri="{FF2B5EF4-FFF2-40B4-BE49-F238E27FC236}">
                  <a16:creationId xmlns:a16="http://schemas.microsoft.com/office/drawing/2014/main" id="{4522951C-2AF9-1404-D5E2-28222DB7012B}"/>
                </a:ext>
              </a:extLst>
            </p:cNvPr>
            <p:cNvSpPr/>
            <p:nvPr/>
          </p:nvSpPr>
          <p:spPr>
            <a:xfrm>
              <a:off x="3308773" y="3519292"/>
              <a:ext cx="1378789" cy="847964"/>
            </a:xfrm>
            <a:custGeom>
              <a:avLst/>
              <a:gdLst/>
              <a:ahLst/>
              <a:cxnLst/>
              <a:rect l="0" t="0" r="0" b="0"/>
              <a:pathLst>
                <a:path w="1378789" h="847964">
                  <a:moveTo>
                    <a:pt x="282654" y="847964"/>
                  </a:moveTo>
                  <a:cubicBezTo>
                    <a:pt x="211826" y="753533"/>
                    <a:pt x="152955" y="650380"/>
                    <a:pt x="107581" y="540836"/>
                  </a:cubicBezTo>
                  <a:cubicBezTo>
                    <a:pt x="36556" y="369366"/>
                    <a:pt x="0" y="185594"/>
                    <a:pt x="0" y="0"/>
                  </a:cubicBezTo>
                  <a:lnTo>
                    <a:pt x="564610" y="0"/>
                  </a:lnTo>
                  <a:cubicBezTo>
                    <a:pt x="564610" y="111444"/>
                    <a:pt x="586555" y="221805"/>
                    <a:pt x="629205" y="324770"/>
                  </a:cubicBezTo>
                  <a:cubicBezTo>
                    <a:pt x="671862" y="427735"/>
                    <a:pt x="734368" y="521293"/>
                    <a:pt x="813173" y="600099"/>
                  </a:cubicBezTo>
                  <a:cubicBezTo>
                    <a:pt x="891979" y="678905"/>
                    <a:pt x="985538" y="741411"/>
                    <a:pt x="1088503" y="784068"/>
                  </a:cubicBezTo>
                  <a:cubicBezTo>
                    <a:pt x="1180837" y="822305"/>
                    <a:pt x="1279106" y="843912"/>
                    <a:pt x="1378789" y="847964"/>
                  </a:cubicBezTo>
                  <a:lnTo>
                    <a:pt x="282654" y="847964"/>
                  </a:lnTo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02" name="Rounded Rectangle 4">
              <a:extLst>
                <a:ext uri="{FF2B5EF4-FFF2-40B4-BE49-F238E27FC236}">
                  <a16:creationId xmlns:a16="http://schemas.microsoft.com/office/drawing/2014/main" id="{2BCCFD2D-4B1F-6BA8-464F-0007E13C4C72}"/>
                </a:ext>
              </a:extLst>
            </p:cNvPr>
            <p:cNvSpPr/>
            <p:nvPr/>
          </p:nvSpPr>
          <p:spPr>
            <a:xfrm>
              <a:off x="3308773" y="3519292"/>
              <a:ext cx="1378786" cy="847964"/>
            </a:xfrm>
            <a:custGeom>
              <a:avLst/>
              <a:gdLst/>
              <a:ahLst/>
              <a:cxnLst/>
              <a:rect l="0" t="0" r="0" b="0"/>
              <a:pathLst>
                <a:path w="1378786" h="847964">
                  <a:moveTo>
                    <a:pt x="282654" y="847964"/>
                  </a:moveTo>
                  <a:cubicBezTo>
                    <a:pt x="211828" y="753529"/>
                    <a:pt x="152953" y="650380"/>
                    <a:pt x="107579" y="540836"/>
                  </a:cubicBezTo>
                  <a:cubicBezTo>
                    <a:pt x="36555" y="369370"/>
                    <a:pt x="0" y="185593"/>
                    <a:pt x="0" y="0"/>
                  </a:cubicBezTo>
                  <a:moveTo>
                    <a:pt x="564608" y="0"/>
                  </a:moveTo>
                  <a:cubicBezTo>
                    <a:pt x="564608" y="111448"/>
                    <a:pt x="586559" y="221805"/>
                    <a:pt x="629208" y="324770"/>
                  </a:cubicBezTo>
                  <a:cubicBezTo>
                    <a:pt x="671858" y="427735"/>
                    <a:pt x="734370" y="521291"/>
                    <a:pt x="813176" y="600097"/>
                  </a:cubicBezTo>
                  <a:cubicBezTo>
                    <a:pt x="891982" y="678902"/>
                    <a:pt x="985538" y="741415"/>
                    <a:pt x="1088503" y="784064"/>
                  </a:cubicBezTo>
                  <a:cubicBezTo>
                    <a:pt x="1180834" y="822309"/>
                    <a:pt x="1279109" y="843910"/>
                    <a:pt x="1378786" y="847964"/>
                  </a:cubicBezTo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03" name="Rounded Rectangle 5">
              <a:extLst>
                <a:ext uri="{FF2B5EF4-FFF2-40B4-BE49-F238E27FC236}">
                  <a16:creationId xmlns:a16="http://schemas.microsoft.com/office/drawing/2014/main" id="{27EB4635-7960-A151-0163-D6CF10568509}"/>
                </a:ext>
              </a:extLst>
            </p:cNvPr>
            <p:cNvSpPr/>
            <p:nvPr/>
          </p:nvSpPr>
          <p:spPr>
            <a:xfrm>
              <a:off x="3308773" y="2375930"/>
              <a:ext cx="914442" cy="1143361"/>
            </a:xfrm>
            <a:custGeom>
              <a:avLst/>
              <a:gdLst/>
              <a:ahLst/>
              <a:cxnLst/>
              <a:rect l="0" t="0" r="0" b="0"/>
              <a:pathLst>
                <a:path w="914442" h="1143361">
                  <a:moveTo>
                    <a:pt x="0" y="1143361"/>
                  </a:moveTo>
                  <a:cubicBezTo>
                    <a:pt x="0" y="920331"/>
                    <a:pt x="52785" y="700473"/>
                    <a:pt x="154038" y="501751"/>
                  </a:cubicBezTo>
                  <a:cubicBezTo>
                    <a:pt x="255292" y="303029"/>
                    <a:pt x="402139" y="131096"/>
                    <a:pt x="582574" y="0"/>
                  </a:cubicBezTo>
                  <a:lnTo>
                    <a:pt x="914442" y="456777"/>
                  </a:lnTo>
                  <a:cubicBezTo>
                    <a:pt x="806091" y="535497"/>
                    <a:pt x="717911" y="638744"/>
                    <a:pt x="657109" y="758079"/>
                  </a:cubicBezTo>
                  <a:cubicBezTo>
                    <a:pt x="596307" y="877407"/>
                    <a:pt x="564610" y="1009438"/>
                    <a:pt x="564610" y="1143361"/>
                  </a:cubicBezTo>
                  <a:lnTo>
                    <a:pt x="0" y="1143361"/>
                  </a:lnTo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04" name="Rounded Rectangle 6">
              <a:extLst>
                <a:ext uri="{FF2B5EF4-FFF2-40B4-BE49-F238E27FC236}">
                  <a16:creationId xmlns:a16="http://schemas.microsoft.com/office/drawing/2014/main" id="{9F0B3780-9A2D-B341-D27A-CF2BDD3BD65E}"/>
                </a:ext>
              </a:extLst>
            </p:cNvPr>
            <p:cNvSpPr/>
            <p:nvPr/>
          </p:nvSpPr>
          <p:spPr>
            <a:xfrm>
              <a:off x="3308773" y="2375930"/>
              <a:ext cx="914442" cy="1143364"/>
            </a:xfrm>
            <a:custGeom>
              <a:avLst/>
              <a:gdLst/>
              <a:ahLst/>
              <a:cxnLst/>
              <a:rect l="0" t="0" r="0" b="0"/>
              <a:pathLst>
                <a:path w="914442" h="1143364">
                  <a:moveTo>
                    <a:pt x="582574" y="0"/>
                  </a:moveTo>
                  <a:cubicBezTo>
                    <a:pt x="402139" y="131092"/>
                    <a:pt x="255292" y="303029"/>
                    <a:pt x="154038" y="501749"/>
                  </a:cubicBezTo>
                  <a:cubicBezTo>
                    <a:pt x="52784" y="700470"/>
                    <a:pt x="0" y="920334"/>
                    <a:pt x="0" y="1143364"/>
                  </a:cubicBezTo>
                  <a:lnTo>
                    <a:pt x="564608" y="1143364"/>
                  </a:lnTo>
                  <a:cubicBezTo>
                    <a:pt x="564608" y="1009436"/>
                    <a:pt x="596305" y="877408"/>
                    <a:pt x="657107" y="758077"/>
                  </a:cubicBezTo>
                  <a:cubicBezTo>
                    <a:pt x="717909" y="638746"/>
                    <a:pt x="806091" y="535499"/>
                    <a:pt x="914442" y="456778"/>
                  </a:cubicBezTo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05" name="Rounded Rectangle 7">
              <a:extLst>
                <a:ext uri="{FF2B5EF4-FFF2-40B4-BE49-F238E27FC236}">
                  <a16:creationId xmlns:a16="http://schemas.microsoft.com/office/drawing/2014/main" id="{0B96FF1D-A120-034D-18EB-38A03E18D9FD}"/>
                </a:ext>
              </a:extLst>
            </p:cNvPr>
            <p:cNvSpPr/>
            <p:nvPr/>
          </p:nvSpPr>
          <p:spPr>
            <a:xfrm>
              <a:off x="3891379" y="2088533"/>
              <a:ext cx="1267431" cy="744159"/>
            </a:xfrm>
            <a:custGeom>
              <a:avLst/>
              <a:gdLst/>
              <a:ahLst/>
              <a:cxnLst/>
              <a:rect l="0" t="0" r="0" b="0"/>
              <a:pathLst>
                <a:path w="1267431" h="744159">
                  <a:moveTo>
                    <a:pt x="0" y="287373"/>
                  </a:moveTo>
                  <a:cubicBezTo>
                    <a:pt x="180435" y="156284"/>
                    <a:pt x="389341" y="69760"/>
                    <a:pt x="609623" y="34876"/>
                  </a:cubicBezTo>
                  <a:cubicBezTo>
                    <a:pt x="829905" y="0"/>
                    <a:pt x="1055322" y="17744"/>
                    <a:pt x="1267431" y="86665"/>
                  </a:cubicBezTo>
                  <a:lnTo>
                    <a:pt x="1092947" y="623638"/>
                  </a:lnTo>
                  <a:cubicBezTo>
                    <a:pt x="965571" y="582245"/>
                    <a:pt x="830211" y="571590"/>
                    <a:pt x="697937" y="592538"/>
                  </a:cubicBezTo>
                  <a:cubicBezTo>
                    <a:pt x="565654" y="613486"/>
                    <a:pt x="440211" y="665439"/>
                    <a:pt x="331860" y="744159"/>
                  </a:cubicBezTo>
                  <a:lnTo>
                    <a:pt x="0" y="287373"/>
                  </a:ln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06" name="Rounded Rectangle 8">
              <a:extLst>
                <a:ext uri="{FF2B5EF4-FFF2-40B4-BE49-F238E27FC236}">
                  <a16:creationId xmlns:a16="http://schemas.microsoft.com/office/drawing/2014/main" id="{514C50EC-297E-E6A5-D609-416AEA02C285}"/>
                </a:ext>
              </a:extLst>
            </p:cNvPr>
            <p:cNvSpPr/>
            <p:nvPr/>
          </p:nvSpPr>
          <p:spPr>
            <a:xfrm>
              <a:off x="3891379" y="2088529"/>
              <a:ext cx="1267433" cy="744166"/>
            </a:xfrm>
            <a:custGeom>
              <a:avLst/>
              <a:gdLst/>
              <a:ahLst/>
              <a:cxnLst/>
              <a:rect l="0" t="0" r="0" b="0"/>
              <a:pathLst>
                <a:path w="1267433" h="744166">
                  <a:moveTo>
                    <a:pt x="1267433" y="86671"/>
                  </a:moveTo>
                  <a:cubicBezTo>
                    <a:pt x="1055321" y="17746"/>
                    <a:pt x="829907" y="0"/>
                    <a:pt x="609623" y="34883"/>
                  </a:cubicBezTo>
                  <a:cubicBezTo>
                    <a:pt x="389338" y="69767"/>
                    <a:pt x="180438" y="156290"/>
                    <a:pt x="0" y="287379"/>
                  </a:cubicBezTo>
                  <a:lnTo>
                    <a:pt x="331857" y="744166"/>
                  </a:lnTo>
                  <a:cubicBezTo>
                    <a:pt x="440209" y="665447"/>
                    <a:pt x="565653" y="613490"/>
                    <a:pt x="697933" y="592543"/>
                  </a:cubicBezTo>
                  <a:cubicBezTo>
                    <a:pt x="830213" y="571595"/>
                    <a:pt x="965573" y="582252"/>
                    <a:pt x="1092945" y="623641"/>
                  </a:cubicBezTo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07" name="Rounded Rectangle 9">
              <a:extLst>
                <a:ext uri="{FF2B5EF4-FFF2-40B4-BE49-F238E27FC236}">
                  <a16:creationId xmlns:a16="http://schemas.microsoft.com/office/drawing/2014/main" id="{658B49AD-EA41-478B-13C7-DE9675EA4EA9}"/>
                </a:ext>
              </a:extLst>
            </p:cNvPr>
            <p:cNvSpPr/>
            <p:nvPr/>
          </p:nvSpPr>
          <p:spPr>
            <a:xfrm>
              <a:off x="4984522" y="2175308"/>
              <a:ext cx="1081750" cy="1081955"/>
            </a:xfrm>
            <a:custGeom>
              <a:avLst/>
              <a:gdLst/>
              <a:ahLst/>
              <a:cxnLst/>
              <a:rect l="0" t="0" r="0" b="0"/>
              <a:pathLst>
                <a:path w="1081750" h="1081955">
                  <a:moveTo>
                    <a:pt x="174625" y="0"/>
                  </a:moveTo>
                  <a:cubicBezTo>
                    <a:pt x="386718" y="68975"/>
                    <a:pt x="579473" y="187172"/>
                    <a:pt x="737132" y="344925"/>
                  </a:cubicBezTo>
                  <a:cubicBezTo>
                    <a:pt x="894798" y="502669"/>
                    <a:pt x="1012885" y="695495"/>
                    <a:pt x="1081750" y="907627"/>
                  </a:cubicBezTo>
                  <a:lnTo>
                    <a:pt x="544730" y="1081955"/>
                  </a:lnTo>
                  <a:cubicBezTo>
                    <a:pt x="503376" y="954564"/>
                    <a:pt x="432461" y="838777"/>
                    <a:pt x="337788" y="744049"/>
                  </a:cubicBezTo>
                  <a:cubicBezTo>
                    <a:pt x="243114" y="649320"/>
                    <a:pt x="127359" y="578350"/>
                    <a:pt x="0" y="536926"/>
                  </a:cubicBezTo>
                  <a:lnTo>
                    <a:pt x="174625" y="0"/>
                  </a:lnTo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08" name="Rounded Rectangle 10">
              <a:extLst>
                <a:ext uri="{FF2B5EF4-FFF2-40B4-BE49-F238E27FC236}">
                  <a16:creationId xmlns:a16="http://schemas.microsoft.com/office/drawing/2014/main" id="{8D48F649-FD10-A326-EFFE-F6F289F2F696}"/>
                </a:ext>
              </a:extLst>
            </p:cNvPr>
            <p:cNvSpPr/>
            <p:nvPr/>
          </p:nvSpPr>
          <p:spPr>
            <a:xfrm>
              <a:off x="4984522" y="2175308"/>
              <a:ext cx="1081749" cy="1081952"/>
            </a:xfrm>
            <a:custGeom>
              <a:avLst/>
              <a:gdLst/>
              <a:ahLst/>
              <a:cxnLst/>
              <a:rect l="0" t="0" r="0" b="0"/>
              <a:pathLst>
                <a:path w="1081749" h="1081952">
                  <a:moveTo>
                    <a:pt x="1081749" y="907626"/>
                  </a:moveTo>
                  <a:cubicBezTo>
                    <a:pt x="1012887" y="695494"/>
                    <a:pt x="894798" y="502671"/>
                    <a:pt x="737135" y="344922"/>
                  </a:cubicBezTo>
                  <a:cubicBezTo>
                    <a:pt x="579474" y="187173"/>
                    <a:pt x="386715" y="68977"/>
                    <a:pt x="174621" y="0"/>
                  </a:cubicBezTo>
                  <a:lnTo>
                    <a:pt x="0" y="536926"/>
                  </a:lnTo>
                  <a:cubicBezTo>
                    <a:pt x="127361" y="578347"/>
                    <a:pt x="243112" y="649323"/>
                    <a:pt x="337788" y="744050"/>
                  </a:cubicBezTo>
                  <a:cubicBezTo>
                    <a:pt x="432463" y="838778"/>
                    <a:pt x="503375" y="954568"/>
                    <a:pt x="544726" y="1081952"/>
                  </a:cubicBezTo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09" name="Rounded Rectangle 11">
              <a:extLst>
                <a:ext uri="{FF2B5EF4-FFF2-40B4-BE49-F238E27FC236}">
                  <a16:creationId xmlns:a16="http://schemas.microsoft.com/office/drawing/2014/main" id="{7445FDEA-EBD7-48ED-437F-F409FEF8EF32}"/>
                </a:ext>
              </a:extLst>
            </p:cNvPr>
            <p:cNvSpPr/>
            <p:nvPr/>
          </p:nvSpPr>
          <p:spPr>
            <a:xfrm>
              <a:off x="5408473" y="3082983"/>
              <a:ext cx="744331" cy="1267368"/>
            </a:xfrm>
            <a:custGeom>
              <a:avLst/>
              <a:gdLst/>
              <a:ahLst/>
              <a:cxnLst/>
              <a:rect l="0" t="0" r="0" b="0"/>
              <a:pathLst>
                <a:path w="744331" h="1267368">
                  <a:moveTo>
                    <a:pt x="657808" y="0"/>
                  </a:moveTo>
                  <a:cubicBezTo>
                    <a:pt x="726658" y="212132"/>
                    <a:pt x="744331" y="437557"/>
                    <a:pt x="709376" y="657823"/>
                  </a:cubicBezTo>
                  <a:cubicBezTo>
                    <a:pt x="674414" y="878098"/>
                    <a:pt x="587827" y="1086972"/>
                    <a:pt x="456675" y="1267368"/>
                  </a:cubicBezTo>
                  <a:lnTo>
                    <a:pt x="0" y="935351"/>
                  </a:lnTo>
                  <a:cubicBezTo>
                    <a:pt x="78758" y="827031"/>
                    <a:pt x="130751" y="701603"/>
                    <a:pt x="151746" y="569329"/>
                  </a:cubicBezTo>
                  <a:cubicBezTo>
                    <a:pt x="172733" y="437054"/>
                    <a:pt x="162126" y="301694"/>
                    <a:pt x="120779" y="174311"/>
                  </a:cubicBezTo>
                  <a:lnTo>
                    <a:pt x="657808" y="0"/>
                  </a:lnTo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10" name="Rounded Rectangle 12">
              <a:extLst>
                <a:ext uri="{FF2B5EF4-FFF2-40B4-BE49-F238E27FC236}">
                  <a16:creationId xmlns:a16="http://schemas.microsoft.com/office/drawing/2014/main" id="{3641F8A2-B8C1-46E9-A912-75F8358E1788}"/>
                </a:ext>
              </a:extLst>
            </p:cNvPr>
            <p:cNvSpPr/>
            <p:nvPr/>
          </p:nvSpPr>
          <p:spPr>
            <a:xfrm>
              <a:off x="5408473" y="3082983"/>
              <a:ext cx="744332" cy="1267364"/>
            </a:xfrm>
            <a:custGeom>
              <a:avLst/>
              <a:gdLst/>
              <a:ahLst/>
              <a:cxnLst/>
              <a:rect l="0" t="0" r="0" b="0"/>
              <a:pathLst>
                <a:path w="744332" h="1267364">
                  <a:moveTo>
                    <a:pt x="456675" y="1267364"/>
                  </a:moveTo>
                  <a:cubicBezTo>
                    <a:pt x="587824" y="1086970"/>
                    <a:pt x="674417" y="878098"/>
                    <a:pt x="709374" y="657826"/>
                  </a:cubicBezTo>
                  <a:cubicBezTo>
                    <a:pt x="744332" y="437553"/>
                    <a:pt x="726661" y="212134"/>
                    <a:pt x="657807" y="0"/>
                  </a:cubicBezTo>
                  <a:lnTo>
                    <a:pt x="120779" y="174307"/>
                  </a:lnTo>
                  <a:cubicBezTo>
                    <a:pt x="162125" y="301693"/>
                    <a:pt x="172736" y="437057"/>
                    <a:pt x="151744" y="569330"/>
                  </a:cubicBezTo>
                  <a:cubicBezTo>
                    <a:pt x="130752" y="701602"/>
                    <a:pt x="78754" y="827029"/>
                    <a:pt x="0" y="935355"/>
                  </a:cubicBezTo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11" name="Rounded Rectangle 13">
              <a:extLst>
                <a:ext uri="{FF2B5EF4-FFF2-40B4-BE49-F238E27FC236}">
                  <a16:creationId xmlns:a16="http://schemas.microsoft.com/office/drawing/2014/main" id="{AF76C436-9E14-6884-9A01-7A27F5FC63F3}"/>
                </a:ext>
              </a:extLst>
            </p:cNvPr>
            <p:cNvSpPr/>
            <p:nvPr/>
          </p:nvSpPr>
          <p:spPr>
            <a:xfrm>
              <a:off x="4722015" y="4018138"/>
              <a:ext cx="1143377" cy="914427"/>
            </a:xfrm>
            <a:custGeom>
              <a:avLst/>
              <a:gdLst/>
              <a:ahLst/>
              <a:cxnLst/>
              <a:rect l="0" t="0" r="0" b="0"/>
              <a:pathLst>
                <a:path w="1143377" h="914427">
                  <a:moveTo>
                    <a:pt x="1143377" y="331875"/>
                  </a:moveTo>
                  <a:cubicBezTo>
                    <a:pt x="1012280" y="512311"/>
                    <a:pt x="840340" y="659150"/>
                    <a:pt x="641618" y="760403"/>
                  </a:cubicBezTo>
                  <a:cubicBezTo>
                    <a:pt x="442896" y="861649"/>
                    <a:pt x="223030" y="914427"/>
                    <a:pt x="0" y="914427"/>
                  </a:cubicBezTo>
                  <a:lnTo>
                    <a:pt x="0" y="349816"/>
                  </a:lnTo>
                  <a:cubicBezTo>
                    <a:pt x="133939" y="349824"/>
                    <a:pt x="265970" y="318127"/>
                    <a:pt x="385297" y="257325"/>
                  </a:cubicBezTo>
                  <a:cubicBezTo>
                    <a:pt x="504632" y="196523"/>
                    <a:pt x="607880" y="108350"/>
                    <a:pt x="686599" y="0"/>
                  </a:cubicBezTo>
                  <a:lnTo>
                    <a:pt x="1143377" y="331875"/>
                  </a:lnTo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12" name="Rounded Rectangle 14">
              <a:extLst>
                <a:ext uri="{FF2B5EF4-FFF2-40B4-BE49-F238E27FC236}">
                  <a16:creationId xmlns:a16="http://schemas.microsoft.com/office/drawing/2014/main" id="{7E5D615C-6DFF-61DF-0802-483A271858D3}"/>
                </a:ext>
              </a:extLst>
            </p:cNvPr>
            <p:cNvSpPr/>
            <p:nvPr/>
          </p:nvSpPr>
          <p:spPr>
            <a:xfrm>
              <a:off x="4722015" y="4018138"/>
              <a:ext cx="1143374" cy="914431"/>
            </a:xfrm>
            <a:custGeom>
              <a:avLst/>
              <a:gdLst/>
              <a:ahLst/>
              <a:cxnLst/>
              <a:rect l="0" t="0" r="0" b="0"/>
              <a:pathLst>
                <a:path w="1143374" h="914431">
                  <a:moveTo>
                    <a:pt x="0" y="914427"/>
                  </a:moveTo>
                  <a:cubicBezTo>
                    <a:pt x="223029" y="914431"/>
                    <a:pt x="442893" y="861651"/>
                    <a:pt x="641615" y="760402"/>
                  </a:cubicBezTo>
                  <a:cubicBezTo>
                    <a:pt x="840338" y="659153"/>
                    <a:pt x="1012277" y="512309"/>
                    <a:pt x="1143374" y="331877"/>
                  </a:cubicBezTo>
                  <a:lnTo>
                    <a:pt x="686602" y="0"/>
                  </a:lnTo>
                  <a:cubicBezTo>
                    <a:pt x="607879" y="108348"/>
                    <a:pt x="504631" y="196527"/>
                    <a:pt x="385299" y="257327"/>
                  </a:cubicBezTo>
                  <a:cubicBezTo>
                    <a:pt x="265967" y="318127"/>
                    <a:pt x="133939" y="349821"/>
                    <a:pt x="11" y="349818"/>
                  </a:cubicBezTo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13" name="Rounded Rectangle 15">
              <a:extLst>
                <a:ext uri="{FF2B5EF4-FFF2-40B4-BE49-F238E27FC236}">
                  <a16:creationId xmlns:a16="http://schemas.microsoft.com/office/drawing/2014/main" id="{F89E5A5F-623B-143C-4FE7-0F6BBB7DDBEB}"/>
                </a:ext>
              </a:extLst>
            </p:cNvPr>
            <p:cNvSpPr/>
            <p:nvPr/>
          </p:nvSpPr>
          <p:spPr>
            <a:xfrm>
              <a:off x="2931900" y="4367257"/>
              <a:ext cx="1790146" cy="565309"/>
            </a:xfrm>
            <a:custGeom>
              <a:avLst/>
              <a:gdLst/>
              <a:ahLst/>
              <a:cxnLst/>
              <a:rect l="0" t="0" r="0" b="0"/>
              <a:pathLst>
                <a:path w="1790146" h="565309">
                  <a:moveTo>
                    <a:pt x="0" y="0"/>
                  </a:moveTo>
                  <a:lnTo>
                    <a:pt x="1790146" y="0"/>
                  </a:lnTo>
                  <a:lnTo>
                    <a:pt x="1790146" y="565309"/>
                  </a:lnTo>
                  <a:lnTo>
                    <a:pt x="0" y="565309"/>
                  </a:lnTo>
                  <a:lnTo>
                    <a:pt x="0" y="0"/>
                  </a:lnTo>
                </a:path>
              </a:pathLst>
            </a:custGeom>
            <a:solidFill>
              <a:srgbClr val="E5575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14" name="Rounded Rectangle 16">
              <a:extLst>
                <a:ext uri="{FF2B5EF4-FFF2-40B4-BE49-F238E27FC236}">
                  <a16:creationId xmlns:a16="http://schemas.microsoft.com/office/drawing/2014/main" id="{ACD4C2B7-69EF-01C4-D840-BB1D129B39CE}"/>
                </a:ext>
              </a:extLst>
            </p:cNvPr>
            <p:cNvSpPr/>
            <p:nvPr/>
          </p:nvSpPr>
          <p:spPr>
            <a:xfrm>
              <a:off x="2931900" y="4367257"/>
              <a:ext cx="1790146" cy="565309"/>
            </a:xfrm>
            <a:custGeom>
              <a:avLst/>
              <a:gdLst/>
              <a:ahLst/>
              <a:cxnLst/>
              <a:rect l="0" t="0" r="0" b="0"/>
              <a:pathLst>
                <a:path w="1790146" h="565309">
                  <a:moveTo>
                    <a:pt x="0" y="0"/>
                  </a:moveTo>
                  <a:lnTo>
                    <a:pt x="1790146" y="0"/>
                  </a:lnTo>
                  <a:lnTo>
                    <a:pt x="1790146" y="565309"/>
                  </a:lnTo>
                  <a:lnTo>
                    <a:pt x="0" y="56530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15" name="TextBox 17514">
              <a:extLst>
                <a:ext uri="{FF2B5EF4-FFF2-40B4-BE49-F238E27FC236}">
                  <a16:creationId xmlns:a16="http://schemas.microsoft.com/office/drawing/2014/main" id="{4854E90F-6141-F3F7-40D7-CD43364613AB}"/>
                </a:ext>
              </a:extLst>
            </p:cNvPr>
            <p:cNvSpPr txBox="1"/>
            <p:nvPr/>
          </p:nvSpPr>
          <p:spPr>
            <a:xfrm>
              <a:off x="5822390" y="2193888"/>
              <a:ext cx="1592772" cy="491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Build QAOA circuit
based on QUBO</a:t>
              </a:r>
            </a:p>
          </p:txBody>
        </p:sp>
        <p:sp>
          <p:nvSpPr>
            <p:cNvPr id="17516" name="TextBox 17515">
              <a:extLst>
                <a:ext uri="{FF2B5EF4-FFF2-40B4-BE49-F238E27FC236}">
                  <a16:creationId xmlns:a16="http://schemas.microsoft.com/office/drawing/2014/main" id="{9731E9BB-E5A6-BA0F-CAF3-8FF030395E34}"/>
                </a:ext>
              </a:extLst>
            </p:cNvPr>
            <p:cNvSpPr txBox="1"/>
            <p:nvPr/>
          </p:nvSpPr>
          <p:spPr>
            <a:xfrm>
              <a:off x="1802947" y="2167318"/>
              <a:ext cx="1330173" cy="281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600" b="1" dirty="0">
                  <a:solidFill>
                    <a:srgbClr val="1EABD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Classical Part</a:t>
              </a:r>
            </a:p>
          </p:txBody>
        </p:sp>
        <p:sp>
          <p:nvSpPr>
            <p:cNvPr id="17517" name="TextBox 17516">
              <a:extLst>
                <a:ext uri="{FF2B5EF4-FFF2-40B4-BE49-F238E27FC236}">
                  <a16:creationId xmlns:a16="http://schemas.microsoft.com/office/drawing/2014/main" id="{8F8D7AE0-5EE9-F650-0ADD-F4CE67B36F0D}"/>
                </a:ext>
              </a:extLst>
            </p:cNvPr>
            <p:cNvSpPr txBox="1"/>
            <p:nvPr/>
          </p:nvSpPr>
          <p:spPr>
            <a:xfrm>
              <a:off x="1920305" y="2486875"/>
              <a:ext cx="1347698" cy="4918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Optimize QAOA
parameters</a:t>
              </a:r>
            </a:p>
          </p:txBody>
        </p:sp>
        <p:sp>
          <p:nvSpPr>
            <p:cNvPr id="17518" name="TextBox 17517">
              <a:extLst>
                <a:ext uri="{FF2B5EF4-FFF2-40B4-BE49-F238E27FC236}">
                  <a16:creationId xmlns:a16="http://schemas.microsoft.com/office/drawing/2014/main" id="{140CE0DC-882D-7CA5-6F21-F01068F62ABE}"/>
                </a:ext>
              </a:extLst>
            </p:cNvPr>
            <p:cNvSpPr txBox="1"/>
            <p:nvPr/>
          </p:nvSpPr>
          <p:spPr>
            <a:xfrm>
              <a:off x="6347311" y="2993224"/>
              <a:ext cx="1211001" cy="562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1">
                  <a:solidFill>
                    <a:srgbClr val="E0CB1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QUBO
Formulation</a:t>
              </a:r>
            </a:p>
          </p:txBody>
        </p:sp>
        <p:sp>
          <p:nvSpPr>
            <p:cNvPr id="17519" name="TextBox 17518">
              <a:extLst>
                <a:ext uri="{FF2B5EF4-FFF2-40B4-BE49-F238E27FC236}">
                  <a16:creationId xmlns:a16="http://schemas.microsoft.com/office/drawing/2014/main" id="{F0B1E9FF-82B1-21E9-3CC0-6F5A88A84F1E}"/>
                </a:ext>
              </a:extLst>
            </p:cNvPr>
            <p:cNvSpPr txBox="1"/>
            <p:nvPr/>
          </p:nvSpPr>
          <p:spPr>
            <a:xfrm>
              <a:off x="4002667" y="3370113"/>
              <a:ext cx="1438830" cy="491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1" dirty="0">
                  <a:solidFill>
                    <a:srgbClr val="484848"/>
                  </a:solidFill>
                  <a:latin typeface="Roboto"/>
                </a:rPr>
                <a:t>Hybrid Quantum
Algorithm</a:t>
              </a:r>
            </a:p>
          </p:txBody>
        </p:sp>
        <p:sp>
          <p:nvSpPr>
            <p:cNvPr id="17520" name="TextBox 17519">
              <a:extLst>
                <a:ext uri="{FF2B5EF4-FFF2-40B4-BE49-F238E27FC236}">
                  <a16:creationId xmlns:a16="http://schemas.microsoft.com/office/drawing/2014/main" id="{F3A478D5-351B-985D-4BAF-DC200EDCEBAF}"/>
                </a:ext>
              </a:extLst>
            </p:cNvPr>
            <p:cNvSpPr txBox="1"/>
            <p:nvPr/>
          </p:nvSpPr>
          <p:spPr>
            <a:xfrm>
              <a:off x="1413483" y="3582104"/>
              <a:ext cx="1565012" cy="281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1" dirty="0">
                  <a:solidFill>
                    <a:srgbClr val="4E88E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 Decoding</a:t>
              </a:r>
            </a:p>
          </p:txBody>
        </p:sp>
        <p:sp>
          <p:nvSpPr>
            <p:cNvPr id="17521" name="TextBox 17520">
              <a:extLst>
                <a:ext uri="{FF2B5EF4-FFF2-40B4-BE49-F238E27FC236}">
                  <a16:creationId xmlns:a16="http://schemas.microsoft.com/office/drawing/2014/main" id="{C69EF045-19AE-861B-7FD5-AB416CBA931A}"/>
                </a:ext>
              </a:extLst>
            </p:cNvPr>
            <p:cNvSpPr txBox="1"/>
            <p:nvPr/>
          </p:nvSpPr>
          <p:spPr>
            <a:xfrm>
              <a:off x="5962586" y="1817306"/>
              <a:ext cx="1289724" cy="281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92BD3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QAOA Layer</a:t>
              </a:r>
            </a:p>
          </p:txBody>
        </p:sp>
        <p:sp>
          <p:nvSpPr>
            <p:cNvPr id="17522" name="TextBox 17521">
              <a:extLst>
                <a:ext uri="{FF2B5EF4-FFF2-40B4-BE49-F238E27FC236}">
                  <a16:creationId xmlns:a16="http://schemas.microsoft.com/office/drawing/2014/main" id="{714A8028-8A75-4A6D-EED4-85122988ECDC}"/>
                </a:ext>
              </a:extLst>
            </p:cNvPr>
            <p:cNvSpPr txBox="1"/>
            <p:nvPr/>
          </p:nvSpPr>
          <p:spPr>
            <a:xfrm>
              <a:off x="6167035" y="3672397"/>
              <a:ext cx="1689442" cy="491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Convert problem into
QUBO model</a:t>
              </a:r>
            </a:p>
          </p:txBody>
        </p:sp>
        <p:sp>
          <p:nvSpPr>
            <p:cNvPr id="17523" name="TextBox 17522">
              <a:extLst>
                <a:ext uri="{FF2B5EF4-FFF2-40B4-BE49-F238E27FC236}">
                  <a16:creationId xmlns:a16="http://schemas.microsoft.com/office/drawing/2014/main" id="{23A17E45-94DF-AC8B-3E5A-85F14707B01B}"/>
                </a:ext>
              </a:extLst>
            </p:cNvPr>
            <p:cNvSpPr txBox="1"/>
            <p:nvPr/>
          </p:nvSpPr>
          <p:spPr>
            <a:xfrm>
              <a:off x="1493619" y="3919484"/>
              <a:ext cx="1428314" cy="4918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Decode output for
optimal path</a:t>
              </a:r>
            </a:p>
          </p:txBody>
        </p:sp>
        <p:sp>
          <p:nvSpPr>
            <p:cNvPr id="17524" name="TextBox 17523">
              <a:extLst>
                <a:ext uri="{FF2B5EF4-FFF2-40B4-BE49-F238E27FC236}">
                  <a16:creationId xmlns:a16="http://schemas.microsoft.com/office/drawing/2014/main" id="{9E06AE65-BFE2-B554-FAEA-81FCACD6988D}"/>
                </a:ext>
              </a:extLst>
            </p:cNvPr>
            <p:cNvSpPr txBox="1"/>
            <p:nvPr/>
          </p:nvSpPr>
          <p:spPr>
            <a:xfrm>
              <a:off x="3501707" y="1764478"/>
              <a:ext cx="1969567" cy="245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Run QAOA on simulator</a:t>
              </a:r>
            </a:p>
          </p:txBody>
        </p:sp>
        <p:sp>
          <p:nvSpPr>
            <p:cNvPr id="17525" name="TextBox 17524">
              <a:extLst>
                <a:ext uri="{FF2B5EF4-FFF2-40B4-BE49-F238E27FC236}">
                  <a16:creationId xmlns:a16="http://schemas.microsoft.com/office/drawing/2014/main" id="{A5C2EC76-FC31-948F-B157-37AD3AD4027F}"/>
                </a:ext>
              </a:extLst>
            </p:cNvPr>
            <p:cNvSpPr txBox="1"/>
            <p:nvPr/>
          </p:nvSpPr>
          <p:spPr>
            <a:xfrm>
              <a:off x="6294333" y="5621093"/>
              <a:ext cx="1629785" cy="491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Efficient travel route
determined</a:t>
              </a:r>
            </a:p>
          </p:txBody>
        </p:sp>
        <p:sp>
          <p:nvSpPr>
            <p:cNvPr id="17526" name="TextBox 17525">
              <a:extLst>
                <a:ext uri="{FF2B5EF4-FFF2-40B4-BE49-F238E27FC236}">
                  <a16:creationId xmlns:a16="http://schemas.microsoft.com/office/drawing/2014/main" id="{3871C17B-32AB-E584-621C-AE943BEAF770}"/>
                </a:ext>
              </a:extLst>
            </p:cNvPr>
            <p:cNvSpPr txBox="1"/>
            <p:nvPr/>
          </p:nvSpPr>
          <p:spPr>
            <a:xfrm>
              <a:off x="2786113" y="1011162"/>
              <a:ext cx="3543621" cy="2810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1" dirty="0">
                  <a:solidFill>
                    <a:srgbClr val="484848"/>
                  </a:solidFill>
                  <a:latin typeface="Roboto"/>
                </a:rPr>
                <a:t>Quantum Path Planning with QAOA</a:t>
              </a:r>
            </a:p>
          </p:txBody>
        </p:sp>
        <p:sp>
          <p:nvSpPr>
            <p:cNvPr id="17527" name="TextBox 17526">
              <a:extLst>
                <a:ext uri="{FF2B5EF4-FFF2-40B4-BE49-F238E27FC236}">
                  <a16:creationId xmlns:a16="http://schemas.microsoft.com/office/drawing/2014/main" id="{1050F7C9-1F98-63C1-ABA0-C07501603F4E}"/>
                </a:ext>
              </a:extLst>
            </p:cNvPr>
            <p:cNvSpPr txBox="1"/>
            <p:nvPr/>
          </p:nvSpPr>
          <p:spPr>
            <a:xfrm>
              <a:off x="1779138" y="4980165"/>
              <a:ext cx="1365223" cy="562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1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Complex Path
Planning</a:t>
              </a:r>
            </a:p>
          </p:txBody>
        </p:sp>
        <p:sp>
          <p:nvSpPr>
            <p:cNvPr id="17528" name="TextBox 17527">
              <a:extLst>
                <a:ext uri="{FF2B5EF4-FFF2-40B4-BE49-F238E27FC236}">
                  <a16:creationId xmlns:a16="http://schemas.microsoft.com/office/drawing/2014/main" id="{027ABD47-F908-3CE7-48A1-08EB3AF564C2}"/>
                </a:ext>
              </a:extLst>
            </p:cNvPr>
            <p:cNvSpPr txBox="1"/>
            <p:nvPr/>
          </p:nvSpPr>
          <p:spPr>
            <a:xfrm>
              <a:off x="4223214" y="5085801"/>
              <a:ext cx="1086009" cy="562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1" dirty="0">
                  <a:solidFill>
                    <a:srgbClr val="DE843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Define TSP
Scenario</a:t>
              </a:r>
            </a:p>
          </p:txBody>
        </p:sp>
        <p:sp>
          <p:nvSpPr>
            <p:cNvPr id="17529" name="TextBox 17528">
              <a:extLst>
                <a:ext uri="{FF2B5EF4-FFF2-40B4-BE49-F238E27FC236}">
                  <a16:creationId xmlns:a16="http://schemas.microsoft.com/office/drawing/2014/main" id="{B6491CB6-1A6F-F2D1-2384-F5FEA3E82C20}"/>
                </a:ext>
              </a:extLst>
            </p:cNvPr>
            <p:cNvSpPr txBox="1"/>
            <p:nvPr/>
          </p:nvSpPr>
          <p:spPr>
            <a:xfrm>
              <a:off x="6263557" y="5003000"/>
              <a:ext cx="1305637" cy="562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1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Optimal Path
Found</a:t>
              </a:r>
            </a:p>
          </p:txBody>
        </p:sp>
        <p:sp>
          <p:nvSpPr>
            <p:cNvPr id="17530" name="TextBox 17529">
              <a:extLst>
                <a:ext uri="{FF2B5EF4-FFF2-40B4-BE49-F238E27FC236}">
                  <a16:creationId xmlns:a16="http://schemas.microsoft.com/office/drawing/2014/main" id="{8C055C83-A83D-E8EC-5127-2F9E11EDC051}"/>
                </a:ext>
              </a:extLst>
            </p:cNvPr>
            <p:cNvSpPr txBox="1"/>
            <p:nvPr/>
          </p:nvSpPr>
          <p:spPr>
            <a:xfrm>
              <a:off x="1587710" y="5584259"/>
              <a:ext cx="1754285" cy="491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Finding optimal travel
routes</a:t>
              </a:r>
            </a:p>
          </p:txBody>
        </p:sp>
        <p:sp>
          <p:nvSpPr>
            <p:cNvPr id="17531" name="TextBox 17530">
              <a:extLst>
                <a:ext uri="{FF2B5EF4-FFF2-40B4-BE49-F238E27FC236}">
                  <a16:creationId xmlns:a16="http://schemas.microsoft.com/office/drawing/2014/main" id="{A6EE292A-D56D-21C7-5FC0-2C9136DCAEB8}"/>
                </a:ext>
              </a:extLst>
            </p:cNvPr>
            <p:cNvSpPr txBox="1"/>
            <p:nvPr/>
          </p:nvSpPr>
          <p:spPr>
            <a:xfrm>
              <a:off x="3766414" y="5649162"/>
              <a:ext cx="1934796" cy="491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Simplify cities and fixed
points</a:t>
              </a:r>
            </a:p>
          </p:txBody>
        </p:sp>
        <p:sp>
          <p:nvSpPr>
            <p:cNvPr id="17532" name="TextBox 17531">
              <a:extLst>
                <a:ext uri="{FF2B5EF4-FFF2-40B4-BE49-F238E27FC236}">
                  <a16:creationId xmlns:a16="http://schemas.microsoft.com/office/drawing/2014/main" id="{4365DD72-6B1A-1296-DDC1-8FB19C2D89B2}"/>
                </a:ext>
              </a:extLst>
            </p:cNvPr>
            <p:cNvSpPr txBox="1"/>
            <p:nvPr/>
          </p:nvSpPr>
          <p:spPr>
            <a:xfrm>
              <a:off x="3784588" y="1462194"/>
              <a:ext cx="1403779" cy="281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1" dirty="0">
                  <a:solidFill>
                    <a:srgbClr val="3CC58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Quantum Part</a:t>
              </a:r>
            </a:p>
          </p:txBody>
        </p:sp>
        <p:sp>
          <p:nvSpPr>
            <p:cNvPr id="17533" name="Rounded Rectangle 35">
              <a:extLst>
                <a:ext uri="{FF2B5EF4-FFF2-40B4-BE49-F238E27FC236}">
                  <a16:creationId xmlns:a16="http://schemas.microsoft.com/office/drawing/2014/main" id="{9D8D5CC2-B51A-D098-D0B0-3BB4284B8FEE}"/>
                </a:ext>
              </a:extLst>
            </p:cNvPr>
            <p:cNvSpPr/>
            <p:nvPr/>
          </p:nvSpPr>
          <p:spPr>
            <a:xfrm>
              <a:off x="5334465" y="2530001"/>
              <a:ext cx="369021" cy="298357"/>
            </a:xfrm>
            <a:custGeom>
              <a:avLst/>
              <a:gdLst/>
              <a:ahLst/>
              <a:cxnLst/>
              <a:rect l="0" t="0" r="0" b="0"/>
              <a:pathLst>
                <a:path w="369021" h="298357">
                  <a:moveTo>
                    <a:pt x="7851" y="188436"/>
                  </a:moveTo>
                  <a:cubicBezTo>
                    <a:pt x="7851" y="249144"/>
                    <a:pt x="57064" y="298357"/>
                    <a:pt x="117772" y="298357"/>
                  </a:cubicBezTo>
                  <a:cubicBezTo>
                    <a:pt x="178480" y="298357"/>
                    <a:pt x="227694" y="249144"/>
                    <a:pt x="227694" y="188436"/>
                  </a:cubicBezTo>
                  <a:cubicBezTo>
                    <a:pt x="227694" y="127728"/>
                    <a:pt x="178480" y="78515"/>
                    <a:pt x="117772" y="78515"/>
                  </a:cubicBezTo>
                  <a:cubicBezTo>
                    <a:pt x="57064" y="78515"/>
                    <a:pt x="7851" y="127728"/>
                    <a:pt x="7851" y="188436"/>
                  </a:cubicBezTo>
                  <a:moveTo>
                    <a:pt x="149178" y="188436"/>
                  </a:moveTo>
                  <a:cubicBezTo>
                    <a:pt x="149178" y="249144"/>
                    <a:pt x="198392" y="298357"/>
                    <a:pt x="259100" y="298357"/>
                  </a:cubicBezTo>
                  <a:cubicBezTo>
                    <a:pt x="319807" y="298357"/>
                    <a:pt x="369021" y="249144"/>
                    <a:pt x="369021" y="188436"/>
                  </a:cubicBezTo>
                  <a:cubicBezTo>
                    <a:pt x="369021" y="127728"/>
                    <a:pt x="319807" y="78515"/>
                    <a:pt x="259100" y="78515"/>
                  </a:cubicBezTo>
                  <a:cubicBezTo>
                    <a:pt x="198392" y="78515"/>
                    <a:pt x="149178" y="127728"/>
                    <a:pt x="149178" y="188436"/>
                  </a:cubicBezTo>
                  <a:moveTo>
                    <a:pt x="0" y="0"/>
                  </a:moveTo>
                  <a:moveTo>
                    <a:pt x="288464" y="82488"/>
                  </a:moveTo>
                  <a:lnTo>
                    <a:pt x="220831" y="150121"/>
                  </a:lnTo>
                  <a:moveTo>
                    <a:pt x="339703" y="113689"/>
                  </a:moveTo>
                  <a:lnTo>
                    <a:pt x="216434" y="236958"/>
                  </a:lnTo>
                  <a:moveTo>
                    <a:pt x="367231" y="168603"/>
                  </a:moveTo>
                  <a:lnTo>
                    <a:pt x="239267" y="296567"/>
                  </a:lnTo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34" name="Rounded Rectangle 36">
              <a:extLst>
                <a:ext uri="{FF2B5EF4-FFF2-40B4-BE49-F238E27FC236}">
                  <a16:creationId xmlns:a16="http://schemas.microsoft.com/office/drawing/2014/main" id="{062FAB42-7E93-A496-A516-DDA440745FCF}"/>
                </a:ext>
              </a:extLst>
            </p:cNvPr>
            <p:cNvSpPr/>
            <p:nvPr/>
          </p:nvSpPr>
          <p:spPr>
            <a:xfrm>
              <a:off x="3532541" y="2812655"/>
              <a:ext cx="366044" cy="364506"/>
            </a:xfrm>
            <a:custGeom>
              <a:avLst/>
              <a:gdLst/>
              <a:ahLst/>
              <a:cxnLst/>
              <a:rect l="0" t="0" r="0" b="0"/>
              <a:pathLst>
                <a:path w="366044" h="364506">
                  <a:moveTo>
                    <a:pt x="0" y="0"/>
                  </a:moveTo>
                  <a:moveTo>
                    <a:pt x="46819" y="259296"/>
                  </a:moveTo>
                  <a:lnTo>
                    <a:pt x="13958" y="331530"/>
                  </a:lnTo>
                  <a:cubicBezTo>
                    <a:pt x="10828" y="337811"/>
                    <a:pt x="10828" y="347233"/>
                    <a:pt x="15523" y="353514"/>
                  </a:cubicBezTo>
                  <a:cubicBezTo>
                    <a:pt x="20217" y="359795"/>
                    <a:pt x="28041" y="364506"/>
                    <a:pt x="35866" y="364506"/>
                  </a:cubicBezTo>
                  <a:lnTo>
                    <a:pt x="341007" y="364506"/>
                  </a:lnTo>
                  <a:cubicBezTo>
                    <a:pt x="350396" y="364506"/>
                    <a:pt x="356655" y="359795"/>
                    <a:pt x="361348" y="353514"/>
                  </a:cubicBezTo>
                  <a:cubicBezTo>
                    <a:pt x="366044" y="347233"/>
                    <a:pt x="366044" y="339381"/>
                    <a:pt x="362914" y="331530"/>
                  </a:cubicBezTo>
                  <a:lnTo>
                    <a:pt x="328488" y="259296"/>
                  </a:lnTo>
                  <a:moveTo>
                    <a:pt x="328488" y="259296"/>
                  </a:moveTo>
                  <a:lnTo>
                    <a:pt x="46819" y="259296"/>
                  </a:lnTo>
                  <a:moveTo>
                    <a:pt x="46819" y="259296"/>
                  </a:moveTo>
                  <a:lnTo>
                    <a:pt x="46819" y="105406"/>
                  </a:lnTo>
                  <a:cubicBezTo>
                    <a:pt x="46819" y="99125"/>
                    <a:pt x="48384" y="94414"/>
                    <a:pt x="53079" y="89703"/>
                  </a:cubicBezTo>
                  <a:moveTo>
                    <a:pt x="328488" y="259296"/>
                  </a:moveTo>
                  <a:lnTo>
                    <a:pt x="328488" y="105406"/>
                  </a:lnTo>
                  <a:cubicBezTo>
                    <a:pt x="328488" y="99125"/>
                    <a:pt x="326923" y="94414"/>
                    <a:pt x="322229" y="89703"/>
                  </a:cubicBezTo>
                  <a:moveTo>
                    <a:pt x="212691" y="317397"/>
                  </a:moveTo>
                  <a:lnTo>
                    <a:pt x="165747" y="317397"/>
                  </a:lnTo>
                  <a:moveTo>
                    <a:pt x="0" y="0"/>
                  </a:moveTo>
                  <a:moveTo>
                    <a:pt x="207898" y="25321"/>
                  </a:moveTo>
                  <a:lnTo>
                    <a:pt x="214180" y="45735"/>
                  </a:lnTo>
                  <a:cubicBezTo>
                    <a:pt x="215750" y="53586"/>
                    <a:pt x="223601" y="56727"/>
                    <a:pt x="231453" y="55157"/>
                  </a:cubicBezTo>
                  <a:lnTo>
                    <a:pt x="253437" y="50446"/>
                  </a:lnTo>
                  <a:cubicBezTo>
                    <a:pt x="272281" y="45735"/>
                    <a:pt x="284843" y="69289"/>
                    <a:pt x="272281" y="83422"/>
                  </a:cubicBezTo>
                  <a:lnTo>
                    <a:pt x="256578" y="99125"/>
                  </a:lnTo>
                  <a:cubicBezTo>
                    <a:pt x="251867" y="105406"/>
                    <a:pt x="251867" y="113258"/>
                    <a:pt x="256578" y="119539"/>
                  </a:cubicBezTo>
                  <a:lnTo>
                    <a:pt x="272281" y="135242"/>
                  </a:lnTo>
                  <a:cubicBezTo>
                    <a:pt x="284843" y="149375"/>
                    <a:pt x="272281" y="171359"/>
                    <a:pt x="253437" y="168218"/>
                  </a:cubicBezTo>
                  <a:lnTo>
                    <a:pt x="231453" y="163507"/>
                  </a:lnTo>
                  <a:cubicBezTo>
                    <a:pt x="223601" y="161937"/>
                    <a:pt x="217320" y="166648"/>
                    <a:pt x="214180" y="172929"/>
                  </a:cubicBezTo>
                  <a:lnTo>
                    <a:pt x="207898" y="193343"/>
                  </a:lnTo>
                  <a:cubicBezTo>
                    <a:pt x="201617" y="212187"/>
                    <a:pt x="176492" y="212187"/>
                    <a:pt x="170211" y="193343"/>
                  </a:cubicBezTo>
                  <a:lnTo>
                    <a:pt x="163930" y="172929"/>
                  </a:lnTo>
                  <a:cubicBezTo>
                    <a:pt x="162360" y="165078"/>
                    <a:pt x="154508" y="161937"/>
                    <a:pt x="146656" y="163507"/>
                  </a:cubicBezTo>
                  <a:lnTo>
                    <a:pt x="124672" y="168218"/>
                  </a:lnTo>
                  <a:cubicBezTo>
                    <a:pt x="105828" y="172929"/>
                    <a:pt x="93266" y="149375"/>
                    <a:pt x="105828" y="135242"/>
                  </a:cubicBezTo>
                  <a:lnTo>
                    <a:pt x="121531" y="119539"/>
                  </a:lnTo>
                  <a:cubicBezTo>
                    <a:pt x="126242" y="113258"/>
                    <a:pt x="126242" y="105406"/>
                    <a:pt x="121531" y="99125"/>
                  </a:cubicBezTo>
                  <a:lnTo>
                    <a:pt x="105828" y="83422"/>
                  </a:lnTo>
                  <a:cubicBezTo>
                    <a:pt x="93266" y="69289"/>
                    <a:pt x="105828" y="47305"/>
                    <a:pt x="124672" y="50446"/>
                  </a:cubicBezTo>
                  <a:lnTo>
                    <a:pt x="146656" y="55157"/>
                  </a:lnTo>
                  <a:cubicBezTo>
                    <a:pt x="154508" y="56727"/>
                    <a:pt x="160789" y="52016"/>
                    <a:pt x="163930" y="45735"/>
                  </a:cubicBezTo>
                  <a:lnTo>
                    <a:pt x="170211" y="25321"/>
                  </a:lnTo>
                  <a:cubicBezTo>
                    <a:pt x="176492" y="8047"/>
                    <a:pt x="203187" y="8047"/>
                    <a:pt x="207898" y="25321"/>
                  </a:cubicBezTo>
                  <a:close/>
                  <a:moveTo>
                    <a:pt x="0" y="0"/>
                  </a:moveTo>
                  <a:moveTo>
                    <a:pt x="185914" y="114828"/>
                  </a:moveTo>
                  <a:lnTo>
                    <a:pt x="209469" y="91274"/>
                  </a:lnTo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35" name="Rounded Rectangle 37">
              <a:extLst>
                <a:ext uri="{FF2B5EF4-FFF2-40B4-BE49-F238E27FC236}">
                  <a16:creationId xmlns:a16="http://schemas.microsoft.com/office/drawing/2014/main" id="{C64C839B-85FB-5278-E68C-0D0FACE01CE7}"/>
                </a:ext>
              </a:extLst>
            </p:cNvPr>
            <p:cNvSpPr/>
            <p:nvPr/>
          </p:nvSpPr>
          <p:spPr>
            <a:xfrm>
              <a:off x="4388357" y="2259123"/>
              <a:ext cx="361169" cy="329763"/>
            </a:xfrm>
            <a:custGeom>
              <a:avLst/>
              <a:gdLst/>
              <a:ahLst/>
              <a:cxnLst/>
              <a:rect l="0" t="0" r="0" b="0"/>
              <a:pathLst>
                <a:path w="361169" h="329763">
                  <a:moveTo>
                    <a:pt x="47109" y="31406"/>
                  </a:moveTo>
                  <a:lnTo>
                    <a:pt x="314029" y="31406"/>
                  </a:lnTo>
                  <a:cubicBezTo>
                    <a:pt x="314029" y="31406"/>
                    <a:pt x="329732" y="31406"/>
                    <a:pt x="329732" y="47109"/>
                  </a:cubicBezTo>
                  <a:lnTo>
                    <a:pt x="329732" y="282654"/>
                  </a:lnTo>
                  <a:cubicBezTo>
                    <a:pt x="329732" y="282654"/>
                    <a:pt x="329732" y="298357"/>
                    <a:pt x="314029" y="298357"/>
                  </a:cubicBezTo>
                  <a:lnTo>
                    <a:pt x="47109" y="298357"/>
                  </a:lnTo>
                  <a:cubicBezTo>
                    <a:pt x="47109" y="298357"/>
                    <a:pt x="31406" y="298357"/>
                    <a:pt x="31406" y="282654"/>
                  </a:cubicBezTo>
                  <a:lnTo>
                    <a:pt x="31406" y="47109"/>
                  </a:lnTo>
                  <a:cubicBezTo>
                    <a:pt x="31406" y="47109"/>
                    <a:pt x="31406" y="31406"/>
                    <a:pt x="47109" y="31406"/>
                  </a:cubicBezTo>
                  <a:moveTo>
                    <a:pt x="180584" y="0"/>
                  </a:moveTo>
                  <a:lnTo>
                    <a:pt x="180584" y="31406"/>
                  </a:lnTo>
                  <a:moveTo>
                    <a:pt x="94249" y="0"/>
                  </a:moveTo>
                  <a:lnTo>
                    <a:pt x="94249" y="31406"/>
                  </a:lnTo>
                  <a:moveTo>
                    <a:pt x="0" y="164881"/>
                  </a:moveTo>
                  <a:lnTo>
                    <a:pt x="31406" y="164881"/>
                  </a:lnTo>
                  <a:moveTo>
                    <a:pt x="0" y="235545"/>
                  </a:moveTo>
                  <a:lnTo>
                    <a:pt x="31406" y="235545"/>
                  </a:lnTo>
                  <a:moveTo>
                    <a:pt x="0" y="94218"/>
                  </a:moveTo>
                  <a:lnTo>
                    <a:pt x="31406" y="94218"/>
                  </a:lnTo>
                  <a:moveTo>
                    <a:pt x="361169" y="164881"/>
                  </a:moveTo>
                  <a:lnTo>
                    <a:pt x="329763" y="164881"/>
                  </a:lnTo>
                  <a:moveTo>
                    <a:pt x="361169" y="235545"/>
                  </a:moveTo>
                  <a:lnTo>
                    <a:pt x="329763" y="235545"/>
                  </a:lnTo>
                  <a:moveTo>
                    <a:pt x="361169" y="94218"/>
                  </a:moveTo>
                  <a:lnTo>
                    <a:pt x="329763" y="94218"/>
                  </a:lnTo>
                  <a:moveTo>
                    <a:pt x="180584" y="329763"/>
                  </a:moveTo>
                  <a:lnTo>
                    <a:pt x="180584" y="298357"/>
                  </a:lnTo>
                  <a:moveTo>
                    <a:pt x="94249" y="329763"/>
                  </a:moveTo>
                  <a:lnTo>
                    <a:pt x="94249" y="298357"/>
                  </a:lnTo>
                  <a:moveTo>
                    <a:pt x="266920" y="0"/>
                  </a:moveTo>
                  <a:lnTo>
                    <a:pt x="266920" y="31406"/>
                  </a:lnTo>
                  <a:moveTo>
                    <a:pt x="266920" y="329763"/>
                  </a:moveTo>
                  <a:lnTo>
                    <a:pt x="266920" y="298357"/>
                  </a:lnTo>
                  <a:moveTo>
                    <a:pt x="141327" y="141327"/>
                  </a:moveTo>
                  <a:cubicBezTo>
                    <a:pt x="141307" y="121158"/>
                    <a:pt x="156572" y="104255"/>
                    <a:pt x="176639" y="102229"/>
                  </a:cubicBezTo>
                  <a:cubicBezTo>
                    <a:pt x="196706" y="100202"/>
                    <a:pt x="215043" y="113710"/>
                    <a:pt x="219057" y="133475"/>
                  </a:cubicBezTo>
                  <a:cubicBezTo>
                    <a:pt x="223626" y="155962"/>
                    <a:pt x="211786" y="165525"/>
                    <a:pt x="196287" y="179187"/>
                  </a:cubicBezTo>
                  <a:lnTo>
                    <a:pt x="141327" y="227694"/>
                  </a:lnTo>
                  <a:lnTo>
                    <a:pt x="219842" y="227694"/>
                  </a:lnTo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36" name="Rounded Rectangle 38">
              <a:extLst>
                <a:ext uri="{FF2B5EF4-FFF2-40B4-BE49-F238E27FC236}">
                  <a16:creationId xmlns:a16="http://schemas.microsoft.com/office/drawing/2014/main" id="{D5EBBCEB-CB18-040F-0B93-4930D74E2A66}"/>
                </a:ext>
              </a:extLst>
            </p:cNvPr>
            <p:cNvSpPr/>
            <p:nvPr/>
          </p:nvSpPr>
          <p:spPr>
            <a:xfrm>
              <a:off x="5703486" y="3480034"/>
              <a:ext cx="298383" cy="361169"/>
            </a:xfrm>
            <a:custGeom>
              <a:avLst/>
              <a:gdLst/>
              <a:ahLst/>
              <a:cxnLst/>
              <a:rect l="0" t="0" r="0" b="0"/>
              <a:pathLst>
                <a:path w="298383" h="361169">
                  <a:moveTo>
                    <a:pt x="282654" y="361169"/>
                  </a:moveTo>
                  <a:cubicBezTo>
                    <a:pt x="291327" y="361169"/>
                    <a:pt x="298357" y="354139"/>
                    <a:pt x="298357" y="345466"/>
                  </a:cubicBezTo>
                  <a:lnTo>
                    <a:pt x="298357" y="93872"/>
                  </a:lnTo>
                  <a:cubicBezTo>
                    <a:pt x="298383" y="42035"/>
                    <a:pt x="256368" y="0"/>
                    <a:pt x="204532" y="0"/>
                  </a:cubicBezTo>
                  <a:lnTo>
                    <a:pt x="15703" y="0"/>
                  </a:lnTo>
                  <a:cubicBezTo>
                    <a:pt x="7030" y="0"/>
                    <a:pt x="0" y="7030"/>
                    <a:pt x="0" y="15703"/>
                  </a:cubicBezTo>
                  <a:lnTo>
                    <a:pt x="0" y="345466"/>
                  </a:lnTo>
                  <a:cubicBezTo>
                    <a:pt x="0" y="354139"/>
                    <a:pt x="7030" y="361169"/>
                    <a:pt x="15703" y="361169"/>
                  </a:cubicBezTo>
                  <a:close/>
                  <a:moveTo>
                    <a:pt x="297101" y="78515"/>
                  </a:moveTo>
                  <a:lnTo>
                    <a:pt x="235545" y="78515"/>
                  </a:lnTo>
                  <a:cubicBezTo>
                    <a:pt x="226873" y="78515"/>
                    <a:pt x="219842" y="71484"/>
                    <a:pt x="219842" y="62812"/>
                  </a:cubicBezTo>
                  <a:lnTo>
                    <a:pt x="219842" y="1319"/>
                  </a:lnTo>
                  <a:moveTo>
                    <a:pt x="94218" y="282717"/>
                  </a:moveTo>
                  <a:lnTo>
                    <a:pt x="94218" y="188499"/>
                  </a:lnTo>
                  <a:moveTo>
                    <a:pt x="47109" y="188499"/>
                  </a:moveTo>
                  <a:lnTo>
                    <a:pt x="47109" y="282717"/>
                  </a:lnTo>
                  <a:moveTo>
                    <a:pt x="94218" y="235608"/>
                  </a:moveTo>
                  <a:lnTo>
                    <a:pt x="47109" y="235608"/>
                  </a:lnTo>
                  <a:moveTo>
                    <a:pt x="172733" y="251248"/>
                  </a:moveTo>
                  <a:cubicBezTo>
                    <a:pt x="172733" y="264257"/>
                    <a:pt x="162187" y="274803"/>
                    <a:pt x="149178" y="274803"/>
                  </a:cubicBezTo>
                  <a:cubicBezTo>
                    <a:pt x="136170" y="274803"/>
                    <a:pt x="125624" y="264257"/>
                    <a:pt x="125624" y="251248"/>
                  </a:cubicBezTo>
                  <a:lnTo>
                    <a:pt x="125624" y="211991"/>
                  </a:lnTo>
                  <a:cubicBezTo>
                    <a:pt x="125624" y="198982"/>
                    <a:pt x="136170" y="188436"/>
                    <a:pt x="149178" y="188436"/>
                  </a:cubicBezTo>
                  <a:cubicBezTo>
                    <a:pt x="162187" y="188436"/>
                    <a:pt x="172733" y="198982"/>
                    <a:pt x="172733" y="211991"/>
                  </a:cubicBezTo>
                  <a:close/>
                  <a:moveTo>
                    <a:pt x="172733" y="298420"/>
                  </a:moveTo>
                  <a:lnTo>
                    <a:pt x="141327" y="273515"/>
                  </a:lnTo>
                  <a:moveTo>
                    <a:pt x="251248" y="188499"/>
                  </a:moveTo>
                  <a:lnTo>
                    <a:pt x="204139" y="282717"/>
                  </a:lnTo>
                  <a:moveTo>
                    <a:pt x="251248" y="282717"/>
                  </a:moveTo>
                  <a:lnTo>
                    <a:pt x="204139" y="188499"/>
                  </a:lnTo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37" name="Rounded Rectangle 39">
              <a:extLst>
                <a:ext uri="{FF2B5EF4-FFF2-40B4-BE49-F238E27FC236}">
                  <a16:creationId xmlns:a16="http://schemas.microsoft.com/office/drawing/2014/main" id="{A5A85DCD-A2E2-DA23-BBB0-19D0D2929B69}"/>
                </a:ext>
              </a:extLst>
            </p:cNvPr>
            <p:cNvSpPr/>
            <p:nvPr/>
          </p:nvSpPr>
          <p:spPr>
            <a:xfrm>
              <a:off x="3512912" y="3782318"/>
              <a:ext cx="345466" cy="321912"/>
            </a:xfrm>
            <a:custGeom>
              <a:avLst/>
              <a:gdLst/>
              <a:ahLst/>
              <a:cxnLst/>
              <a:rect l="0" t="0" r="0" b="0"/>
              <a:pathLst>
                <a:path w="345466" h="321912">
                  <a:moveTo>
                    <a:pt x="86366" y="86366"/>
                  </a:moveTo>
                  <a:cubicBezTo>
                    <a:pt x="86366" y="134065"/>
                    <a:pt x="125034" y="172733"/>
                    <a:pt x="172733" y="172733"/>
                  </a:cubicBezTo>
                  <a:cubicBezTo>
                    <a:pt x="220432" y="172733"/>
                    <a:pt x="259100" y="134065"/>
                    <a:pt x="259100" y="86366"/>
                  </a:cubicBezTo>
                  <a:cubicBezTo>
                    <a:pt x="259100" y="38667"/>
                    <a:pt x="220432" y="0"/>
                    <a:pt x="172733" y="0"/>
                  </a:cubicBezTo>
                  <a:cubicBezTo>
                    <a:pt x="125034" y="0"/>
                    <a:pt x="86366" y="38667"/>
                    <a:pt x="86366" y="86366"/>
                  </a:cubicBezTo>
                  <a:close/>
                  <a:moveTo>
                    <a:pt x="172733" y="172733"/>
                  </a:moveTo>
                  <a:lnTo>
                    <a:pt x="172733" y="282654"/>
                  </a:lnTo>
                  <a:moveTo>
                    <a:pt x="0" y="321912"/>
                  </a:moveTo>
                  <a:lnTo>
                    <a:pt x="345466" y="321912"/>
                  </a:lnTo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38" name="Rounded Rectangle 40">
              <a:extLst>
                <a:ext uri="{FF2B5EF4-FFF2-40B4-BE49-F238E27FC236}">
                  <a16:creationId xmlns:a16="http://schemas.microsoft.com/office/drawing/2014/main" id="{06434EA9-2D34-8C89-EF43-877ED9538B17}"/>
                </a:ext>
              </a:extLst>
            </p:cNvPr>
            <p:cNvSpPr/>
            <p:nvPr/>
          </p:nvSpPr>
          <p:spPr>
            <a:xfrm>
              <a:off x="5146028" y="4328988"/>
              <a:ext cx="282654" cy="359731"/>
            </a:xfrm>
            <a:custGeom>
              <a:avLst/>
              <a:gdLst/>
              <a:ahLst/>
              <a:cxnLst/>
              <a:rect l="0" t="0" r="0" b="0"/>
              <a:pathLst>
                <a:path w="282654" h="359731">
                  <a:moveTo>
                    <a:pt x="282654" y="149178"/>
                  </a:moveTo>
                  <a:cubicBezTo>
                    <a:pt x="282654" y="246961"/>
                    <a:pt x="170833" y="338526"/>
                    <a:pt x="146116" y="357558"/>
                  </a:cubicBezTo>
                  <a:cubicBezTo>
                    <a:pt x="143293" y="359731"/>
                    <a:pt x="139361" y="359731"/>
                    <a:pt x="136537" y="357558"/>
                  </a:cubicBezTo>
                  <a:cubicBezTo>
                    <a:pt x="111837" y="338541"/>
                    <a:pt x="0" y="246961"/>
                    <a:pt x="0" y="149178"/>
                  </a:cubicBezTo>
                  <a:cubicBezTo>
                    <a:pt x="0" y="66800"/>
                    <a:pt x="58933" y="0"/>
                    <a:pt x="141327" y="0"/>
                  </a:cubicBezTo>
                  <a:cubicBezTo>
                    <a:pt x="223721" y="0"/>
                    <a:pt x="282654" y="66800"/>
                    <a:pt x="282654" y="149178"/>
                  </a:cubicBezTo>
                  <a:close/>
                  <a:moveTo>
                    <a:pt x="94218" y="94218"/>
                  </a:moveTo>
                  <a:cubicBezTo>
                    <a:pt x="78515" y="94218"/>
                    <a:pt x="78515" y="109921"/>
                    <a:pt x="78515" y="109921"/>
                  </a:cubicBezTo>
                  <a:lnTo>
                    <a:pt x="78515" y="204139"/>
                  </a:lnTo>
                  <a:cubicBezTo>
                    <a:pt x="78515" y="219842"/>
                    <a:pt x="94218" y="219842"/>
                    <a:pt x="94218" y="219842"/>
                  </a:cubicBezTo>
                  <a:lnTo>
                    <a:pt x="188436" y="219842"/>
                  </a:lnTo>
                  <a:cubicBezTo>
                    <a:pt x="204139" y="219842"/>
                    <a:pt x="204139" y="204139"/>
                    <a:pt x="204139" y="204139"/>
                  </a:cubicBezTo>
                  <a:lnTo>
                    <a:pt x="204139" y="109921"/>
                  </a:lnTo>
                  <a:cubicBezTo>
                    <a:pt x="204139" y="94218"/>
                    <a:pt x="188436" y="94218"/>
                    <a:pt x="188436" y="94218"/>
                  </a:cubicBezTo>
                  <a:lnTo>
                    <a:pt x="94218" y="94218"/>
                  </a:lnTo>
                  <a:moveTo>
                    <a:pt x="78515" y="157030"/>
                  </a:moveTo>
                  <a:lnTo>
                    <a:pt x="204139" y="157030"/>
                  </a:lnTo>
                  <a:moveTo>
                    <a:pt x="109921" y="184510"/>
                  </a:moveTo>
                  <a:cubicBezTo>
                    <a:pt x="112089" y="184510"/>
                    <a:pt x="113847" y="186268"/>
                    <a:pt x="113847" y="188436"/>
                  </a:cubicBezTo>
                  <a:moveTo>
                    <a:pt x="105995" y="188436"/>
                  </a:moveTo>
                  <a:cubicBezTo>
                    <a:pt x="105995" y="186268"/>
                    <a:pt x="107753" y="184510"/>
                    <a:pt x="109921" y="184510"/>
                  </a:cubicBezTo>
                  <a:moveTo>
                    <a:pt x="105995" y="188436"/>
                  </a:moveTo>
                  <a:cubicBezTo>
                    <a:pt x="105995" y="190604"/>
                    <a:pt x="107753" y="192362"/>
                    <a:pt x="109921" y="192362"/>
                  </a:cubicBezTo>
                  <a:moveTo>
                    <a:pt x="109921" y="192362"/>
                  </a:moveTo>
                  <a:cubicBezTo>
                    <a:pt x="112089" y="192362"/>
                    <a:pt x="113847" y="190604"/>
                    <a:pt x="113847" y="188436"/>
                  </a:cubicBezTo>
                  <a:moveTo>
                    <a:pt x="172733" y="184510"/>
                  </a:moveTo>
                  <a:cubicBezTo>
                    <a:pt x="174901" y="184510"/>
                    <a:pt x="176659" y="186268"/>
                    <a:pt x="176659" y="188436"/>
                  </a:cubicBezTo>
                  <a:moveTo>
                    <a:pt x="168807" y="188436"/>
                  </a:moveTo>
                  <a:cubicBezTo>
                    <a:pt x="168807" y="186268"/>
                    <a:pt x="170565" y="184510"/>
                    <a:pt x="172733" y="184510"/>
                  </a:cubicBezTo>
                  <a:moveTo>
                    <a:pt x="168807" y="188436"/>
                  </a:moveTo>
                  <a:cubicBezTo>
                    <a:pt x="168807" y="190604"/>
                    <a:pt x="170565" y="192362"/>
                    <a:pt x="172733" y="192362"/>
                  </a:cubicBezTo>
                  <a:moveTo>
                    <a:pt x="172733" y="192362"/>
                  </a:moveTo>
                  <a:cubicBezTo>
                    <a:pt x="174901" y="192362"/>
                    <a:pt x="176659" y="190604"/>
                    <a:pt x="176659" y="188436"/>
                  </a:cubicBezTo>
                  <a:moveTo>
                    <a:pt x="125624" y="62812"/>
                  </a:moveTo>
                  <a:lnTo>
                    <a:pt x="157030" y="62812"/>
                  </a:lnTo>
                  <a:moveTo>
                    <a:pt x="52746" y="275148"/>
                  </a:moveTo>
                  <a:lnTo>
                    <a:pt x="94218" y="219842"/>
                  </a:lnTo>
                  <a:moveTo>
                    <a:pt x="188436" y="219842"/>
                  </a:moveTo>
                  <a:lnTo>
                    <a:pt x="229908" y="275148"/>
                  </a:lnTo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39" name="Rounded Rectangle 41">
              <a:extLst>
                <a:ext uri="{FF2B5EF4-FFF2-40B4-BE49-F238E27FC236}">
                  <a16:creationId xmlns:a16="http://schemas.microsoft.com/office/drawing/2014/main" id="{42EE34B2-0A37-B2B6-1E95-1802F5F800FB}"/>
                </a:ext>
              </a:extLst>
            </p:cNvPr>
            <p:cNvSpPr/>
            <p:nvPr/>
          </p:nvSpPr>
          <p:spPr>
            <a:xfrm>
              <a:off x="3607131" y="4477178"/>
              <a:ext cx="345466" cy="345466"/>
            </a:xfrm>
            <a:custGeom>
              <a:avLst/>
              <a:gdLst/>
              <a:ahLst/>
              <a:cxnLst/>
              <a:rect l="0" t="0" r="0" b="0"/>
              <a:pathLst>
                <a:path w="345466" h="345466">
                  <a:moveTo>
                    <a:pt x="282654" y="298357"/>
                  </a:moveTo>
                  <a:cubicBezTo>
                    <a:pt x="291327" y="298357"/>
                    <a:pt x="298357" y="291327"/>
                    <a:pt x="298357" y="282654"/>
                  </a:cubicBezTo>
                  <a:lnTo>
                    <a:pt x="298357" y="157030"/>
                  </a:lnTo>
                  <a:cubicBezTo>
                    <a:pt x="298357" y="148357"/>
                    <a:pt x="305388" y="141327"/>
                    <a:pt x="314060" y="141327"/>
                  </a:cubicBezTo>
                  <a:lnTo>
                    <a:pt x="329763" y="141327"/>
                  </a:lnTo>
                  <a:cubicBezTo>
                    <a:pt x="338436" y="141327"/>
                    <a:pt x="345466" y="148357"/>
                    <a:pt x="345466" y="157030"/>
                  </a:cubicBezTo>
                  <a:lnTo>
                    <a:pt x="345466" y="329763"/>
                  </a:lnTo>
                  <a:cubicBezTo>
                    <a:pt x="345466" y="338436"/>
                    <a:pt x="338436" y="345466"/>
                    <a:pt x="329763" y="345466"/>
                  </a:cubicBezTo>
                  <a:lnTo>
                    <a:pt x="141327" y="345466"/>
                  </a:lnTo>
                  <a:cubicBezTo>
                    <a:pt x="132654" y="345466"/>
                    <a:pt x="125624" y="338436"/>
                    <a:pt x="125624" y="329763"/>
                  </a:cubicBezTo>
                  <a:lnTo>
                    <a:pt x="125624" y="314060"/>
                  </a:lnTo>
                  <a:cubicBezTo>
                    <a:pt x="125624" y="305388"/>
                    <a:pt x="132654" y="298357"/>
                    <a:pt x="141327" y="298357"/>
                  </a:cubicBezTo>
                  <a:close/>
                  <a:moveTo>
                    <a:pt x="109921" y="94218"/>
                  </a:moveTo>
                  <a:lnTo>
                    <a:pt x="235545" y="94218"/>
                  </a:lnTo>
                  <a:cubicBezTo>
                    <a:pt x="235545" y="94218"/>
                    <a:pt x="251248" y="94218"/>
                    <a:pt x="251248" y="109921"/>
                  </a:cubicBezTo>
                  <a:lnTo>
                    <a:pt x="251248" y="235545"/>
                  </a:lnTo>
                  <a:cubicBezTo>
                    <a:pt x="251248" y="235545"/>
                    <a:pt x="251248" y="251248"/>
                    <a:pt x="235545" y="251248"/>
                  </a:cubicBezTo>
                  <a:lnTo>
                    <a:pt x="109921" y="251248"/>
                  </a:lnTo>
                  <a:cubicBezTo>
                    <a:pt x="109921" y="251248"/>
                    <a:pt x="94218" y="251248"/>
                    <a:pt x="94218" y="235545"/>
                  </a:cubicBezTo>
                  <a:lnTo>
                    <a:pt x="94218" y="109921"/>
                  </a:lnTo>
                  <a:cubicBezTo>
                    <a:pt x="94218" y="109921"/>
                    <a:pt x="94218" y="94218"/>
                    <a:pt x="109921" y="94218"/>
                  </a:cubicBezTo>
                  <a:moveTo>
                    <a:pt x="62812" y="47109"/>
                  </a:moveTo>
                  <a:cubicBezTo>
                    <a:pt x="54139" y="47109"/>
                    <a:pt x="47109" y="54139"/>
                    <a:pt x="47109" y="62812"/>
                  </a:cubicBezTo>
                  <a:lnTo>
                    <a:pt x="47109" y="188436"/>
                  </a:lnTo>
                  <a:cubicBezTo>
                    <a:pt x="47109" y="197108"/>
                    <a:pt x="40078" y="204139"/>
                    <a:pt x="31406" y="204139"/>
                  </a:cubicBezTo>
                  <a:lnTo>
                    <a:pt x="15703" y="204139"/>
                  </a:lnTo>
                  <a:cubicBezTo>
                    <a:pt x="7030" y="204139"/>
                    <a:pt x="0" y="197108"/>
                    <a:pt x="0" y="188436"/>
                  </a:cubicBezTo>
                  <a:lnTo>
                    <a:pt x="0" y="15703"/>
                  </a:lnTo>
                  <a:cubicBezTo>
                    <a:pt x="0" y="7030"/>
                    <a:pt x="7030" y="0"/>
                    <a:pt x="15703" y="0"/>
                  </a:cubicBezTo>
                  <a:lnTo>
                    <a:pt x="204139" y="0"/>
                  </a:lnTo>
                  <a:cubicBezTo>
                    <a:pt x="212812" y="0"/>
                    <a:pt x="219842" y="7030"/>
                    <a:pt x="219842" y="15703"/>
                  </a:cubicBezTo>
                  <a:lnTo>
                    <a:pt x="219842" y="31406"/>
                  </a:lnTo>
                  <a:cubicBezTo>
                    <a:pt x="219842" y="40078"/>
                    <a:pt x="212812" y="47109"/>
                    <a:pt x="204139" y="47109"/>
                  </a:cubicBezTo>
                  <a:close/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7540" name="Rounded Rectangle 42">
              <a:extLst>
                <a:ext uri="{FF2B5EF4-FFF2-40B4-BE49-F238E27FC236}">
                  <a16:creationId xmlns:a16="http://schemas.microsoft.com/office/drawing/2014/main" id="{4F356113-0239-BA03-FCA5-63B59E8EEE9A}"/>
                </a:ext>
              </a:extLst>
            </p:cNvPr>
            <p:cNvSpPr/>
            <p:nvPr/>
          </p:nvSpPr>
          <p:spPr>
            <a:xfrm>
              <a:off x="5962586" y="4469326"/>
              <a:ext cx="361169" cy="361169"/>
            </a:xfrm>
            <a:custGeom>
              <a:avLst/>
              <a:gdLst/>
              <a:ahLst/>
              <a:cxnLst/>
              <a:rect l="0" t="0" r="0" b="0"/>
              <a:pathLst>
                <a:path w="361169" h="361169">
                  <a:moveTo>
                    <a:pt x="15703" y="282654"/>
                  </a:moveTo>
                  <a:lnTo>
                    <a:pt x="62812" y="282654"/>
                  </a:lnTo>
                  <a:cubicBezTo>
                    <a:pt x="62812" y="282654"/>
                    <a:pt x="78515" y="282654"/>
                    <a:pt x="78515" y="298357"/>
                  </a:cubicBezTo>
                  <a:lnTo>
                    <a:pt x="78515" y="345466"/>
                  </a:lnTo>
                  <a:cubicBezTo>
                    <a:pt x="78515" y="345466"/>
                    <a:pt x="78515" y="361169"/>
                    <a:pt x="62812" y="361169"/>
                  </a:cubicBezTo>
                  <a:lnTo>
                    <a:pt x="15703" y="361169"/>
                  </a:lnTo>
                  <a:cubicBezTo>
                    <a:pt x="15703" y="361169"/>
                    <a:pt x="0" y="361169"/>
                    <a:pt x="0" y="345466"/>
                  </a:cubicBezTo>
                  <a:lnTo>
                    <a:pt x="0" y="298357"/>
                  </a:lnTo>
                  <a:cubicBezTo>
                    <a:pt x="0" y="298357"/>
                    <a:pt x="0" y="282654"/>
                    <a:pt x="15703" y="282654"/>
                  </a:cubicBezTo>
                  <a:moveTo>
                    <a:pt x="298357" y="0"/>
                  </a:moveTo>
                  <a:lnTo>
                    <a:pt x="345466" y="0"/>
                  </a:lnTo>
                  <a:cubicBezTo>
                    <a:pt x="345466" y="0"/>
                    <a:pt x="361169" y="0"/>
                    <a:pt x="361169" y="15703"/>
                  </a:cubicBezTo>
                  <a:lnTo>
                    <a:pt x="361169" y="62812"/>
                  </a:lnTo>
                  <a:cubicBezTo>
                    <a:pt x="361169" y="62812"/>
                    <a:pt x="361169" y="78515"/>
                    <a:pt x="345466" y="78515"/>
                  </a:cubicBezTo>
                  <a:lnTo>
                    <a:pt x="298357" y="78515"/>
                  </a:lnTo>
                  <a:cubicBezTo>
                    <a:pt x="298357" y="78515"/>
                    <a:pt x="282654" y="78515"/>
                    <a:pt x="282654" y="62812"/>
                  </a:cubicBezTo>
                  <a:lnTo>
                    <a:pt x="282654" y="15703"/>
                  </a:lnTo>
                  <a:cubicBezTo>
                    <a:pt x="282654" y="15703"/>
                    <a:pt x="282654" y="0"/>
                    <a:pt x="298357" y="0"/>
                  </a:cubicBezTo>
                  <a:moveTo>
                    <a:pt x="73898" y="287271"/>
                  </a:moveTo>
                  <a:lnTo>
                    <a:pt x="287271" y="73898"/>
                  </a:lnTo>
                </a:path>
              </a:pathLst>
            </a:custGeom>
            <a:noFill/>
            <a:ln w="1177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2000"/>
            </a:p>
          </p:txBody>
        </p:sp>
      </p:grpSp>
      <p:sp>
        <p:nvSpPr>
          <p:cNvPr id="17542" name="TextBox 17541">
            <a:extLst>
              <a:ext uri="{FF2B5EF4-FFF2-40B4-BE49-F238E27FC236}">
                <a16:creationId xmlns:a16="http://schemas.microsoft.com/office/drawing/2014/main" id="{AD3F9998-C3B7-BA7F-FE40-18A297887180}"/>
              </a:ext>
            </a:extLst>
          </p:cNvPr>
          <p:cNvSpPr txBox="1"/>
          <p:nvPr/>
        </p:nvSpPr>
        <p:spPr>
          <a:xfrm>
            <a:off x="285628" y="2252198"/>
            <a:ext cx="466536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/PennyLane (QAOA circuits)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 (classical optimizers: COBYLA, L-BFGS)</a:t>
            </a:r>
          </a:p>
          <a:p>
            <a:endParaRPr lang="en-IN" dirty="0"/>
          </a:p>
        </p:txBody>
      </p:sp>
      <p:sp>
        <p:nvSpPr>
          <p:cNvPr id="17544" name="Oval 17543" descr="Your startup LOGO">
            <a:extLst>
              <a:ext uri="{FF2B5EF4-FFF2-40B4-BE49-F238E27FC236}">
                <a16:creationId xmlns:a16="http://schemas.microsoft.com/office/drawing/2014/main" id="{35F02262-7EC1-FBC0-220E-DA69ED1AFE9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4" y="176046"/>
            <a:ext cx="1542570" cy="1143000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0066F5-EDE2-6F69-6A26-6FEC7B66E2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CD53232-55E7-3A49-4534-C4C0B8D1F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60" y="-3047889"/>
            <a:ext cx="10972800" cy="14126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6EE844-53EA-1755-6F67-798178EE3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598" y="1449077"/>
            <a:ext cx="1097280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Small-scale TSP feasible on simulators.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QAOA frameworks available.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Scaling to large cities.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 in real quantum hardware.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Keep prototype small.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on simulators before real hardware.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445" name="Group 17444">
            <a:extLst>
              <a:ext uri="{FF2B5EF4-FFF2-40B4-BE49-F238E27FC236}">
                <a16:creationId xmlns:a16="http://schemas.microsoft.com/office/drawing/2014/main" id="{8D695935-F5F7-F79A-A878-DA8A285FF573}"/>
              </a:ext>
            </a:extLst>
          </p:cNvPr>
          <p:cNvGrpSpPr/>
          <p:nvPr/>
        </p:nvGrpSpPr>
        <p:grpSpPr>
          <a:xfrm>
            <a:off x="282998" y="1609238"/>
            <a:ext cx="6351808" cy="4292791"/>
            <a:chOff x="1025910" y="1169193"/>
            <a:chExt cx="7037010" cy="4519613"/>
          </a:xfrm>
        </p:grpSpPr>
        <p:sp>
          <p:nvSpPr>
            <p:cNvPr id="17423" name="Rounded Rectangle 1">
              <a:extLst>
                <a:ext uri="{FF2B5EF4-FFF2-40B4-BE49-F238E27FC236}">
                  <a16:creationId xmlns:a16="http://schemas.microsoft.com/office/drawing/2014/main" id="{D9EEE036-3279-0310-4E95-46C6C7BD283A}"/>
                </a:ext>
              </a:extLst>
            </p:cNvPr>
            <p:cNvSpPr/>
            <p:nvPr/>
          </p:nvSpPr>
          <p:spPr>
            <a:xfrm>
              <a:off x="3268913" y="1914448"/>
              <a:ext cx="1488452" cy="1374057"/>
            </a:xfrm>
            <a:custGeom>
              <a:avLst/>
              <a:gdLst/>
              <a:ahLst/>
              <a:cxnLst/>
              <a:rect l="0" t="0" r="0" b="0"/>
              <a:pathLst>
                <a:path w="1488452" h="1374057">
                  <a:moveTo>
                    <a:pt x="1488452" y="1374057"/>
                  </a:moveTo>
                  <a:lnTo>
                    <a:pt x="1374152" y="1374057"/>
                  </a:lnTo>
                  <a:lnTo>
                    <a:pt x="1374152" y="812834"/>
                  </a:lnTo>
                  <a:cubicBezTo>
                    <a:pt x="1374152" y="665445"/>
                    <a:pt x="1204331" y="584330"/>
                    <a:pt x="1090698" y="678303"/>
                  </a:cubicBezTo>
                  <a:cubicBezTo>
                    <a:pt x="1088793" y="679827"/>
                    <a:pt x="1086888" y="681447"/>
                    <a:pt x="1085078" y="683066"/>
                  </a:cubicBezTo>
                  <a:cubicBezTo>
                    <a:pt x="911723" y="830741"/>
                    <a:pt x="694553" y="916905"/>
                    <a:pt x="466820" y="916905"/>
                  </a:cubicBezTo>
                  <a:lnTo>
                    <a:pt x="460057" y="916905"/>
                  </a:lnTo>
                  <a:cubicBezTo>
                    <a:pt x="209359" y="916905"/>
                    <a:pt x="5143" y="714384"/>
                    <a:pt x="2571" y="464353"/>
                  </a:cubicBezTo>
                  <a:cubicBezTo>
                    <a:pt x="0" y="208045"/>
                    <a:pt x="215360" y="0"/>
                    <a:pt x="471773" y="2476"/>
                  </a:cubicBezTo>
                  <a:cubicBezTo>
                    <a:pt x="556736" y="3238"/>
                    <a:pt x="648357" y="12858"/>
                    <a:pt x="740654" y="27803"/>
                  </a:cubicBezTo>
                  <a:cubicBezTo>
                    <a:pt x="1173375" y="97688"/>
                    <a:pt x="1488452" y="469877"/>
                    <a:pt x="1488452" y="908056"/>
                  </a:cubicBezTo>
                  <a:lnTo>
                    <a:pt x="1488452" y="1374057"/>
                  </a:lnTo>
                  <a:moveTo>
                    <a:pt x="460057" y="802652"/>
                  </a:moveTo>
                  <a:cubicBezTo>
                    <a:pt x="649500" y="802652"/>
                    <a:pt x="803138" y="649071"/>
                    <a:pt x="803138" y="459695"/>
                  </a:cubicBezTo>
                  <a:cubicBezTo>
                    <a:pt x="803138" y="270309"/>
                    <a:pt x="649500" y="116643"/>
                    <a:pt x="460057" y="116643"/>
                  </a:cubicBezTo>
                  <a:cubicBezTo>
                    <a:pt x="270605" y="116643"/>
                    <a:pt x="116871" y="270214"/>
                    <a:pt x="116871" y="459695"/>
                  </a:cubicBezTo>
                  <a:cubicBezTo>
                    <a:pt x="116871" y="649166"/>
                    <a:pt x="270510" y="802652"/>
                    <a:pt x="460057" y="802652"/>
                  </a:cubicBezTo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4" name="Rounded Rectangle 2">
              <a:extLst>
                <a:ext uri="{FF2B5EF4-FFF2-40B4-BE49-F238E27FC236}">
                  <a16:creationId xmlns:a16="http://schemas.microsoft.com/office/drawing/2014/main" id="{AD448A5B-892F-087C-7781-5334BFF7788E}"/>
                </a:ext>
              </a:extLst>
            </p:cNvPr>
            <p:cNvSpPr/>
            <p:nvPr/>
          </p:nvSpPr>
          <p:spPr>
            <a:xfrm>
              <a:off x="3268917" y="1914452"/>
              <a:ext cx="1488448" cy="1374053"/>
            </a:xfrm>
            <a:custGeom>
              <a:avLst/>
              <a:gdLst/>
              <a:ahLst/>
              <a:cxnLst/>
              <a:rect l="0" t="0" r="0" b="0"/>
              <a:pathLst>
                <a:path w="1488448" h="1374053">
                  <a:moveTo>
                    <a:pt x="1374148" y="1031153"/>
                  </a:moveTo>
                  <a:lnTo>
                    <a:pt x="1374148" y="1374053"/>
                  </a:lnTo>
                  <a:moveTo>
                    <a:pt x="1488448" y="1374053"/>
                  </a:moveTo>
                  <a:lnTo>
                    <a:pt x="1488448" y="1031153"/>
                  </a:lnTo>
                  <a:moveTo>
                    <a:pt x="460050" y="802646"/>
                  </a:moveTo>
                  <a:cubicBezTo>
                    <a:pt x="270506" y="802646"/>
                    <a:pt x="116869" y="649163"/>
                    <a:pt x="116869" y="459688"/>
                  </a:cubicBezTo>
                  <a:cubicBezTo>
                    <a:pt x="116869" y="270214"/>
                    <a:pt x="270601" y="116636"/>
                    <a:pt x="460050" y="116636"/>
                  </a:cubicBezTo>
                  <a:cubicBezTo>
                    <a:pt x="649500" y="116636"/>
                    <a:pt x="803135" y="270309"/>
                    <a:pt x="803135" y="459688"/>
                  </a:cubicBezTo>
                  <a:cubicBezTo>
                    <a:pt x="803135" y="649067"/>
                    <a:pt x="649500" y="802646"/>
                    <a:pt x="460050" y="802646"/>
                  </a:cubicBezTo>
                  <a:close/>
                  <a:moveTo>
                    <a:pt x="1488448" y="1031153"/>
                  </a:moveTo>
                  <a:lnTo>
                    <a:pt x="1488448" y="908047"/>
                  </a:lnTo>
                  <a:cubicBezTo>
                    <a:pt x="1488448" y="469876"/>
                    <a:pt x="1173366" y="97688"/>
                    <a:pt x="740652" y="27802"/>
                  </a:cubicBezTo>
                  <a:cubicBezTo>
                    <a:pt x="648356" y="12853"/>
                    <a:pt x="556727" y="3237"/>
                    <a:pt x="471765" y="2475"/>
                  </a:cubicBezTo>
                  <a:cubicBezTo>
                    <a:pt x="215357" y="0"/>
                    <a:pt x="0" y="208040"/>
                    <a:pt x="2571" y="464354"/>
                  </a:cubicBezTo>
                  <a:cubicBezTo>
                    <a:pt x="5143" y="714384"/>
                    <a:pt x="209356" y="916902"/>
                    <a:pt x="460050" y="916902"/>
                  </a:cubicBezTo>
                  <a:lnTo>
                    <a:pt x="466812" y="916902"/>
                  </a:lnTo>
                  <a:cubicBezTo>
                    <a:pt x="694552" y="916902"/>
                    <a:pt x="911718" y="830735"/>
                    <a:pt x="1085071" y="683059"/>
                  </a:cubicBezTo>
                  <a:cubicBezTo>
                    <a:pt x="1086881" y="681440"/>
                    <a:pt x="1088785" y="679822"/>
                    <a:pt x="1090690" y="678298"/>
                  </a:cubicBezTo>
                  <a:cubicBezTo>
                    <a:pt x="1204322" y="584323"/>
                    <a:pt x="1374150" y="665445"/>
                    <a:pt x="1374150" y="812834"/>
                  </a:cubicBezTo>
                  <a:lnTo>
                    <a:pt x="1374150" y="1031153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5" name="Rounded Rectangle 3">
              <a:extLst>
                <a:ext uri="{FF2B5EF4-FFF2-40B4-BE49-F238E27FC236}">
                  <a16:creationId xmlns:a16="http://schemas.microsoft.com/office/drawing/2014/main" id="{A029D9BB-F8A1-83E1-B42D-56F0B238BF6A}"/>
                </a:ext>
              </a:extLst>
            </p:cNvPr>
            <p:cNvSpPr/>
            <p:nvPr/>
          </p:nvSpPr>
          <p:spPr>
            <a:xfrm>
              <a:off x="4643066" y="3288506"/>
              <a:ext cx="114300" cy="2400300"/>
            </a:xfrm>
            <a:custGeom>
              <a:avLst/>
              <a:gdLst/>
              <a:ahLst/>
              <a:cxnLst/>
              <a:rect l="0" t="0" r="0" b="0"/>
              <a:pathLst>
                <a:path w="114300" h="2400300">
                  <a:moveTo>
                    <a:pt x="114300" y="0"/>
                  </a:moveTo>
                  <a:lnTo>
                    <a:pt x="0" y="0"/>
                  </a:lnTo>
                  <a:lnTo>
                    <a:pt x="0" y="2400300"/>
                  </a:lnTo>
                  <a:lnTo>
                    <a:pt x="114300" y="2400300"/>
                  </a:lnTo>
                  <a:lnTo>
                    <a:pt x="114300" y="0"/>
                  </a:lnTo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6" name="Rounded Rectangle 4">
              <a:extLst>
                <a:ext uri="{FF2B5EF4-FFF2-40B4-BE49-F238E27FC236}">
                  <a16:creationId xmlns:a16="http://schemas.microsoft.com/office/drawing/2014/main" id="{6038F81F-6AA0-B075-77D5-59A02FD6B2D5}"/>
                </a:ext>
              </a:extLst>
            </p:cNvPr>
            <p:cNvSpPr/>
            <p:nvPr/>
          </p:nvSpPr>
          <p:spPr>
            <a:xfrm>
              <a:off x="4633541" y="3288506"/>
              <a:ext cx="133350" cy="2400299"/>
            </a:xfrm>
            <a:custGeom>
              <a:avLst/>
              <a:gdLst/>
              <a:ahLst/>
              <a:cxnLst/>
              <a:rect l="0" t="0" r="0" b="0"/>
              <a:pathLst>
                <a:path w="133350" h="2400299">
                  <a:moveTo>
                    <a:pt x="9525" y="0"/>
                  </a:moveTo>
                  <a:lnTo>
                    <a:pt x="9525" y="2400299"/>
                  </a:lnTo>
                  <a:moveTo>
                    <a:pt x="9525" y="2400299"/>
                  </a:moveTo>
                  <a:lnTo>
                    <a:pt x="0" y="2400299"/>
                  </a:lnTo>
                  <a:moveTo>
                    <a:pt x="9525" y="2400299"/>
                  </a:moveTo>
                  <a:lnTo>
                    <a:pt x="123825" y="2400299"/>
                  </a:lnTo>
                  <a:moveTo>
                    <a:pt x="123825" y="2400299"/>
                  </a:moveTo>
                  <a:lnTo>
                    <a:pt x="123825" y="0"/>
                  </a:lnTo>
                  <a:moveTo>
                    <a:pt x="123825" y="2400299"/>
                  </a:moveTo>
                  <a:lnTo>
                    <a:pt x="133350" y="2400299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7" name="Rounded Rectangle 5">
              <a:extLst>
                <a:ext uri="{FF2B5EF4-FFF2-40B4-BE49-F238E27FC236}">
                  <a16:creationId xmlns:a16="http://schemas.microsoft.com/office/drawing/2014/main" id="{3FA258CF-F579-8881-56C7-B6A849A0937B}"/>
                </a:ext>
              </a:extLst>
            </p:cNvPr>
            <p:cNvSpPr/>
            <p:nvPr/>
          </p:nvSpPr>
          <p:spPr>
            <a:xfrm>
              <a:off x="3154613" y="3171748"/>
              <a:ext cx="1488452" cy="1374057"/>
            </a:xfrm>
            <a:custGeom>
              <a:avLst/>
              <a:gdLst/>
              <a:ahLst/>
              <a:cxnLst/>
              <a:rect l="0" t="0" r="0" b="0"/>
              <a:pathLst>
                <a:path w="1488452" h="1374057">
                  <a:moveTo>
                    <a:pt x="1488452" y="1374057"/>
                  </a:moveTo>
                  <a:lnTo>
                    <a:pt x="1374152" y="1374057"/>
                  </a:lnTo>
                  <a:lnTo>
                    <a:pt x="1374152" y="812834"/>
                  </a:lnTo>
                  <a:cubicBezTo>
                    <a:pt x="1374152" y="665445"/>
                    <a:pt x="1204331" y="584330"/>
                    <a:pt x="1090698" y="678303"/>
                  </a:cubicBezTo>
                  <a:cubicBezTo>
                    <a:pt x="1088793" y="679827"/>
                    <a:pt x="1086888" y="681447"/>
                    <a:pt x="1085078" y="683066"/>
                  </a:cubicBezTo>
                  <a:cubicBezTo>
                    <a:pt x="911723" y="830741"/>
                    <a:pt x="694553" y="916905"/>
                    <a:pt x="466820" y="916905"/>
                  </a:cubicBezTo>
                  <a:lnTo>
                    <a:pt x="460057" y="916905"/>
                  </a:lnTo>
                  <a:cubicBezTo>
                    <a:pt x="209359" y="916905"/>
                    <a:pt x="5143" y="714384"/>
                    <a:pt x="2571" y="464353"/>
                  </a:cubicBezTo>
                  <a:cubicBezTo>
                    <a:pt x="0" y="208045"/>
                    <a:pt x="215360" y="0"/>
                    <a:pt x="471773" y="2476"/>
                  </a:cubicBezTo>
                  <a:cubicBezTo>
                    <a:pt x="556736" y="3238"/>
                    <a:pt x="648357" y="12858"/>
                    <a:pt x="740654" y="27803"/>
                  </a:cubicBezTo>
                  <a:cubicBezTo>
                    <a:pt x="1173375" y="97688"/>
                    <a:pt x="1488452" y="469877"/>
                    <a:pt x="1488452" y="908056"/>
                  </a:cubicBezTo>
                  <a:lnTo>
                    <a:pt x="1488452" y="1374057"/>
                  </a:lnTo>
                  <a:moveTo>
                    <a:pt x="460057" y="802652"/>
                  </a:moveTo>
                  <a:cubicBezTo>
                    <a:pt x="649500" y="802652"/>
                    <a:pt x="803138" y="649071"/>
                    <a:pt x="803138" y="459695"/>
                  </a:cubicBezTo>
                  <a:cubicBezTo>
                    <a:pt x="803138" y="270309"/>
                    <a:pt x="649500" y="116643"/>
                    <a:pt x="460057" y="116643"/>
                  </a:cubicBezTo>
                  <a:cubicBezTo>
                    <a:pt x="270605" y="116643"/>
                    <a:pt x="116871" y="270214"/>
                    <a:pt x="116871" y="459695"/>
                  </a:cubicBezTo>
                  <a:cubicBezTo>
                    <a:pt x="116871" y="649166"/>
                    <a:pt x="270510" y="802652"/>
                    <a:pt x="460057" y="802652"/>
                  </a:cubicBez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8" name="Rounded Rectangle 6">
              <a:extLst>
                <a:ext uri="{FF2B5EF4-FFF2-40B4-BE49-F238E27FC236}">
                  <a16:creationId xmlns:a16="http://schemas.microsoft.com/office/drawing/2014/main" id="{B144A8B8-22E7-C8DE-07E6-0DBE6C018BE5}"/>
                </a:ext>
              </a:extLst>
            </p:cNvPr>
            <p:cNvSpPr/>
            <p:nvPr/>
          </p:nvSpPr>
          <p:spPr>
            <a:xfrm>
              <a:off x="3154617" y="3171752"/>
              <a:ext cx="1488448" cy="1374053"/>
            </a:xfrm>
            <a:custGeom>
              <a:avLst/>
              <a:gdLst/>
              <a:ahLst/>
              <a:cxnLst/>
              <a:rect l="0" t="0" r="0" b="0"/>
              <a:pathLst>
                <a:path w="1488448" h="1374053">
                  <a:moveTo>
                    <a:pt x="1374148" y="1031153"/>
                  </a:moveTo>
                  <a:lnTo>
                    <a:pt x="1374148" y="1374053"/>
                  </a:lnTo>
                  <a:moveTo>
                    <a:pt x="1488448" y="1374053"/>
                  </a:moveTo>
                  <a:lnTo>
                    <a:pt x="1488448" y="1031153"/>
                  </a:lnTo>
                  <a:moveTo>
                    <a:pt x="460050" y="802646"/>
                  </a:moveTo>
                  <a:cubicBezTo>
                    <a:pt x="270506" y="802646"/>
                    <a:pt x="116869" y="649163"/>
                    <a:pt x="116869" y="459688"/>
                  </a:cubicBezTo>
                  <a:cubicBezTo>
                    <a:pt x="116869" y="270214"/>
                    <a:pt x="270601" y="116636"/>
                    <a:pt x="460050" y="116636"/>
                  </a:cubicBezTo>
                  <a:cubicBezTo>
                    <a:pt x="649500" y="116636"/>
                    <a:pt x="803135" y="270309"/>
                    <a:pt x="803135" y="459688"/>
                  </a:cubicBezTo>
                  <a:cubicBezTo>
                    <a:pt x="803135" y="649067"/>
                    <a:pt x="649500" y="802646"/>
                    <a:pt x="460050" y="802646"/>
                  </a:cubicBezTo>
                  <a:close/>
                  <a:moveTo>
                    <a:pt x="1488448" y="1031153"/>
                  </a:moveTo>
                  <a:lnTo>
                    <a:pt x="1488448" y="908047"/>
                  </a:lnTo>
                  <a:cubicBezTo>
                    <a:pt x="1488448" y="469876"/>
                    <a:pt x="1173366" y="97688"/>
                    <a:pt x="740652" y="27802"/>
                  </a:cubicBezTo>
                  <a:cubicBezTo>
                    <a:pt x="648356" y="12853"/>
                    <a:pt x="556727" y="3237"/>
                    <a:pt x="471765" y="2475"/>
                  </a:cubicBezTo>
                  <a:cubicBezTo>
                    <a:pt x="215357" y="0"/>
                    <a:pt x="0" y="208040"/>
                    <a:pt x="2571" y="464354"/>
                  </a:cubicBezTo>
                  <a:cubicBezTo>
                    <a:pt x="5143" y="714384"/>
                    <a:pt x="209356" y="916902"/>
                    <a:pt x="460050" y="916902"/>
                  </a:cubicBezTo>
                  <a:lnTo>
                    <a:pt x="466812" y="916902"/>
                  </a:lnTo>
                  <a:cubicBezTo>
                    <a:pt x="694552" y="916902"/>
                    <a:pt x="911718" y="830735"/>
                    <a:pt x="1085071" y="683059"/>
                  </a:cubicBezTo>
                  <a:cubicBezTo>
                    <a:pt x="1086881" y="681440"/>
                    <a:pt x="1088785" y="679822"/>
                    <a:pt x="1090690" y="678298"/>
                  </a:cubicBezTo>
                  <a:cubicBezTo>
                    <a:pt x="1204322" y="584323"/>
                    <a:pt x="1374150" y="665445"/>
                    <a:pt x="1374150" y="812834"/>
                  </a:cubicBezTo>
                  <a:lnTo>
                    <a:pt x="1374150" y="1031153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9" name="Rounded Rectangle 7">
              <a:extLst>
                <a:ext uri="{FF2B5EF4-FFF2-40B4-BE49-F238E27FC236}">
                  <a16:creationId xmlns:a16="http://schemas.microsoft.com/office/drawing/2014/main" id="{7E49F3DF-E4CF-3E79-B0E0-0240DAEA8CBF}"/>
                </a:ext>
              </a:extLst>
            </p:cNvPr>
            <p:cNvSpPr/>
            <p:nvPr/>
          </p:nvSpPr>
          <p:spPr>
            <a:xfrm>
              <a:off x="4528766" y="4431506"/>
              <a:ext cx="114300" cy="1257300"/>
            </a:xfrm>
            <a:custGeom>
              <a:avLst/>
              <a:gdLst/>
              <a:ahLst/>
              <a:cxnLst/>
              <a:rect l="0" t="0" r="0" b="0"/>
              <a:pathLst>
                <a:path w="114300" h="1257300">
                  <a:moveTo>
                    <a:pt x="114300" y="0"/>
                  </a:moveTo>
                  <a:lnTo>
                    <a:pt x="0" y="0"/>
                  </a:lnTo>
                  <a:lnTo>
                    <a:pt x="0" y="1257300"/>
                  </a:lnTo>
                  <a:lnTo>
                    <a:pt x="114300" y="1257300"/>
                  </a:lnTo>
                  <a:lnTo>
                    <a:pt x="114300" y="0"/>
                  </a:ln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0" name="Rounded Rectangle 8">
              <a:extLst>
                <a:ext uri="{FF2B5EF4-FFF2-40B4-BE49-F238E27FC236}">
                  <a16:creationId xmlns:a16="http://schemas.microsoft.com/office/drawing/2014/main" id="{3E6A3324-D537-5046-4FD4-C3D03C7F76B4}"/>
                </a:ext>
              </a:extLst>
            </p:cNvPr>
            <p:cNvSpPr/>
            <p:nvPr/>
          </p:nvSpPr>
          <p:spPr>
            <a:xfrm>
              <a:off x="4528766" y="4431506"/>
              <a:ext cx="114300" cy="1257300"/>
            </a:xfrm>
            <a:custGeom>
              <a:avLst/>
              <a:gdLst/>
              <a:ahLst/>
              <a:cxnLst/>
              <a:rect l="0" t="0" r="0" b="0"/>
              <a:pathLst>
                <a:path w="114300" h="1257300">
                  <a:moveTo>
                    <a:pt x="0" y="0"/>
                  </a:moveTo>
                  <a:lnTo>
                    <a:pt x="0" y="1257300"/>
                  </a:lnTo>
                  <a:lnTo>
                    <a:pt x="114300" y="1257300"/>
                  </a:lnTo>
                  <a:lnTo>
                    <a:pt x="114300" y="0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1" name="Rounded Rectangle 9">
              <a:extLst>
                <a:ext uri="{FF2B5EF4-FFF2-40B4-BE49-F238E27FC236}">
                  <a16:creationId xmlns:a16="http://schemas.microsoft.com/office/drawing/2014/main" id="{054B5B6E-A58A-BE02-2CBD-93E1580E854F}"/>
                </a:ext>
              </a:extLst>
            </p:cNvPr>
            <p:cNvSpPr/>
            <p:nvPr/>
          </p:nvSpPr>
          <p:spPr>
            <a:xfrm>
              <a:off x="4757366" y="3171748"/>
              <a:ext cx="1488452" cy="1374057"/>
            </a:xfrm>
            <a:custGeom>
              <a:avLst/>
              <a:gdLst/>
              <a:ahLst/>
              <a:cxnLst/>
              <a:rect l="0" t="0" r="0" b="0"/>
              <a:pathLst>
                <a:path w="1488452" h="1374057">
                  <a:moveTo>
                    <a:pt x="0" y="1374057"/>
                  </a:moveTo>
                  <a:lnTo>
                    <a:pt x="114300" y="1374057"/>
                  </a:lnTo>
                  <a:lnTo>
                    <a:pt x="114300" y="812834"/>
                  </a:lnTo>
                  <a:cubicBezTo>
                    <a:pt x="114300" y="665445"/>
                    <a:pt x="284121" y="584330"/>
                    <a:pt x="397754" y="678303"/>
                  </a:cubicBezTo>
                  <a:cubicBezTo>
                    <a:pt x="399659" y="679827"/>
                    <a:pt x="401564" y="681447"/>
                    <a:pt x="403374" y="683066"/>
                  </a:cubicBezTo>
                  <a:cubicBezTo>
                    <a:pt x="576729" y="830741"/>
                    <a:pt x="793899" y="916905"/>
                    <a:pt x="1021632" y="916905"/>
                  </a:cubicBezTo>
                  <a:lnTo>
                    <a:pt x="1028395" y="916905"/>
                  </a:lnTo>
                  <a:cubicBezTo>
                    <a:pt x="1279093" y="916905"/>
                    <a:pt x="1483309" y="714384"/>
                    <a:pt x="1485880" y="464353"/>
                  </a:cubicBezTo>
                  <a:cubicBezTo>
                    <a:pt x="1488452" y="208045"/>
                    <a:pt x="1273092" y="0"/>
                    <a:pt x="1016679" y="2476"/>
                  </a:cubicBezTo>
                  <a:cubicBezTo>
                    <a:pt x="931716" y="3238"/>
                    <a:pt x="840095" y="12858"/>
                    <a:pt x="747798" y="27803"/>
                  </a:cubicBezTo>
                  <a:cubicBezTo>
                    <a:pt x="315077" y="97688"/>
                    <a:pt x="0" y="469877"/>
                    <a:pt x="0" y="908056"/>
                  </a:cubicBezTo>
                  <a:lnTo>
                    <a:pt x="0" y="1374057"/>
                  </a:lnTo>
                  <a:moveTo>
                    <a:pt x="1028395" y="802652"/>
                  </a:moveTo>
                  <a:cubicBezTo>
                    <a:pt x="838952" y="802652"/>
                    <a:pt x="685314" y="649071"/>
                    <a:pt x="685314" y="459695"/>
                  </a:cubicBezTo>
                  <a:cubicBezTo>
                    <a:pt x="685314" y="270309"/>
                    <a:pt x="838952" y="116643"/>
                    <a:pt x="1028395" y="116643"/>
                  </a:cubicBezTo>
                  <a:cubicBezTo>
                    <a:pt x="1217847" y="116643"/>
                    <a:pt x="1371580" y="270214"/>
                    <a:pt x="1371580" y="459695"/>
                  </a:cubicBezTo>
                  <a:cubicBezTo>
                    <a:pt x="1371580" y="649166"/>
                    <a:pt x="1217942" y="802652"/>
                    <a:pt x="1028395" y="802652"/>
                  </a:cubicBezTo>
                </a:path>
              </a:pathLst>
            </a:custGeom>
            <a:solidFill>
              <a:srgbClr val="E5575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2" name="Rounded Rectangle 10">
              <a:extLst>
                <a:ext uri="{FF2B5EF4-FFF2-40B4-BE49-F238E27FC236}">
                  <a16:creationId xmlns:a16="http://schemas.microsoft.com/office/drawing/2014/main" id="{43C2B586-CC94-C631-399F-1AD2DE912C5D}"/>
                </a:ext>
              </a:extLst>
            </p:cNvPr>
            <p:cNvSpPr/>
            <p:nvPr/>
          </p:nvSpPr>
          <p:spPr>
            <a:xfrm>
              <a:off x="4757366" y="3171752"/>
              <a:ext cx="1488448" cy="1374053"/>
            </a:xfrm>
            <a:custGeom>
              <a:avLst/>
              <a:gdLst/>
              <a:ahLst/>
              <a:cxnLst/>
              <a:rect l="0" t="0" r="0" b="0"/>
              <a:pathLst>
                <a:path w="1488448" h="1374053">
                  <a:moveTo>
                    <a:pt x="114300" y="1031153"/>
                  </a:moveTo>
                  <a:lnTo>
                    <a:pt x="114300" y="1374053"/>
                  </a:lnTo>
                  <a:moveTo>
                    <a:pt x="0" y="1374053"/>
                  </a:moveTo>
                  <a:lnTo>
                    <a:pt x="0" y="1031153"/>
                  </a:lnTo>
                  <a:moveTo>
                    <a:pt x="1028398" y="802646"/>
                  </a:moveTo>
                  <a:cubicBezTo>
                    <a:pt x="1217942" y="802646"/>
                    <a:pt x="1371579" y="649163"/>
                    <a:pt x="1371579" y="459688"/>
                  </a:cubicBezTo>
                  <a:cubicBezTo>
                    <a:pt x="1371579" y="270214"/>
                    <a:pt x="1217847" y="116636"/>
                    <a:pt x="1028398" y="116636"/>
                  </a:cubicBezTo>
                  <a:cubicBezTo>
                    <a:pt x="838948" y="116636"/>
                    <a:pt x="685313" y="270309"/>
                    <a:pt x="685313" y="459688"/>
                  </a:cubicBezTo>
                  <a:cubicBezTo>
                    <a:pt x="685313" y="649067"/>
                    <a:pt x="838948" y="802646"/>
                    <a:pt x="1028398" y="802646"/>
                  </a:cubicBezTo>
                  <a:close/>
                  <a:moveTo>
                    <a:pt x="0" y="1031153"/>
                  </a:moveTo>
                  <a:lnTo>
                    <a:pt x="0" y="908047"/>
                  </a:lnTo>
                  <a:cubicBezTo>
                    <a:pt x="0" y="469876"/>
                    <a:pt x="315082" y="97688"/>
                    <a:pt x="747796" y="27802"/>
                  </a:cubicBezTo>
                  <a:cubicBezTo>
                    <a:pt x="840092" y="12853"/>
                    <a:pt x="931721" y="3237"/>
                    <a:pt x="1016682" y="2475"/>
                  </a:cubicBezTo>
                  <a:cubicBezTo>
                    <a:pt x="1273091" y="0"/>
                    <a:pt x="1488448" y="208040"/>
                    <a:pt x="1485877" y="464354"/>
                  </a:cubicBezTo>
                  <a:cubicBezTo>
                    <a:pt x="1483305" y="714384"/>
                    <a:pt x="1279092" y="916902"/>
                    <a:pt x="1028398" y="916902"/>
                  </a:cubicBezTo>
                  <a:lnTo>
                    <a:pt x="1021636" y="916902"/>
                  </a:lnTo>
                  <a:cubicBezTo>
                    <a:pt x="793896" y="916902"/>
                    <a:pt x="576730" y="830735"/>
                    <a:pt x="403377" y="683059"/>
                  </a:cubicBezTo>
                  <a:cubicBezTo>
                    <a:pt x="401567" y="681440"/>
                    <a:pt x="399663" y="679822"/>
                    <a:pt x="397758" y="678298"/>
                  </a:cubicBezTo>
                  <a:cubicBezTo>
                    <a:pt x="284125" y="584323"/>
                    <a:pt x="114298" y="665445"/>
                    <a:pt x="114298" y="812834"/>
                  </a:cubicBezTo>
                  <a:lnTo>
                    <a:pt x="114298" y="1031153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3" name="Rounded Rectangle 11">
              <a:extLst>
                <a:ext uri="{FF2B5EF4-FFF2-40B4-BE49-F238E27FC236}">
                  <a16:creationId xmlns:a16="http://schemas.microsoft.com/office/drawing/2014/main" id="{6F1B9F5C-97CA-80A8-CD78-28A3FB777FDA}"/>
                </a:ext>
              </a:extLst>
            </p:cNvPr>
            <p:cNvSpPr/>
            <p:nvPr/>
          </p:nvSpPr>
          <p:spPr>
            <a:xfrm>
              <a:off x="4757366" y="4431506"/>
              <a:ext cx="114300" cy="1257300"/>
            </a:xfrm>
            <a:custGeom>
              <a:avLst/>
              <a:gdLst/>
              <a:ahLst/>
              <a:cxnLst/>
              <a:rect l="0" t="0" r="0" b="0"/>
              <a:pathLst>
                <a:path w="114300" h="1257300">
                  <a:moveTo>
                    <a:pt x="0" y="0"/>
                  </a:moveTo>
                  <a:lnTo>
                    <a:pt x="114300" y="0"/>
                  </a:lnTo>
                  <a:lnTo>
                    <a:pt x="114300" y="1257300"/>
                  </a:lnTo>
                  <a:lnTo>
                    <a:pt x="0" y="1257300"/>
                  </a:lnTo>
                  <a:lnTo>
                    <a:pt x="0" y="0"/>
                  </a:lnTo>
                </a:path>
              </a:pathLst>
            </a:custGeom>
            <a:solidFill>
              <a:srgbClr val="E5575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4" name="Rounded Rectangle 12">
              <a:extLst>
                <a:ext uri="{FF2B5EF4-FFF2-40B4-BE49-F238E27FC236}">
                  <a16:creationId xmlns:a16="http://schemas.microsoft.com/office/drawing/2014/main" id="{06DA1E03-E1F0-9060-AF99-34AED2EC3172}"/>
                </a:ext>
              </a:extLst>
            </p:cNvPr>
            <p:cNvSpPr/>
            <p:nvPr/>
          </p:nvSpPr>
          <p:spPr>
            <a:xfrm>
              <a:off x="4757366" y="4431506"/>
              <a:ext cx="114300" cy="1257300"/>
            </a:xfrm>
            <a:custGeom>
              <a:avLst/>
              <a:gdLst/>
              <a:ahLst/>
              <a:cxnLst/>
              <a:rect l="0" t="0" r="0" b="0"/>
              <a:pathLst>
                <a:path w="114300" h="1257300">
                  <a:moveTo>
                    <a:pt x="114300" y="0"/>
                  </a:moveTo>
                  <a:lnTo>
                    <a:pt x="114300" y="1257300"/>
                  </a:lnTo>
                  <a:lnTo>
                    <a:pt x="0" y="1257300"/>
                  </a:ln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5" name="Rounded Rectangle 13">
              <a:extLst>
                <a:ext uri="{FF2B5EF4-FFF2-40B4-BE49-F238E27FC236}">
                  <a16:creationId xmlns:a16="http://schemas.microsoft.com/office/drawing/2014/main" id="{F9A9B04C-7DA0-B4DB-556C-7DAB487111CD}"/>
                </a:ext>
              </a:extLst>
            </p:cNvPr>
            <p:cNvSpPr/>
            <p:nvPr/>
          </p:nvSpPr>
          <p:spPr>
            <a:xfrm>
              <a:off x="3500066" y="2145506"/>
              <a:ext cx="458562" cy="457771"/>
            </a:xfrm>
            <a:custGeom>
              <a:avLst/>
              <a:gdLst/>
              <a:ahLst/>
              <a:cxnLst/>
              <a:rect l="0" t="0" r="0" b="0"/>
              <a:pathLst>
                <a:path w="458562" h="457771">
                  <a:moveTo>
                    <a:pt x="0" y="276796"/>
                  </a:moveTo>
                  <a:cubicBezTo>
                    <a:pt x="0" y="308362"/>
                    <a:pt x="25584" y="333946"/>
                    <a:pt x="57150" y="333946"/>
                  </a:cubicBezTo>
                  <a:lnTo>
                    <a:pt x="152400" y="333946"/>
                  </a:lnTo>
                  <a:cubicBezTo>
                    <a:pt x="162925" y="333946"/>
                    <a:pt x="171450" y="325421"/>
                    <a:pt x="171450" y="314896"/>
                  </a:cubicBezTo>
                  <a:cubicBezTo>
                    <a:pt x="171450" y="304371"/>
                    <a:pt x="162925" y="295846"/>
                    <a:pt x="152400" y="295846"/>
                  </a:cubicBezTo>
                  <a:lnTo>
                    <a:pt x="57150" y="295846"/>
                  </a:lnTo>
                  <a:cubicBezTo>
                    <a:pt x="46624" y="295846"/>
                    <a:pt x="38100" y="287321"/>
                    <a:pt x="38100" y="276796"/>
                  </a:cubicBezTo>
                  <a:lnTo>
                    <a:pt x="38100" y="101155"/>
                  </a:lnTo>
                  <a:cubicBezTo>
                    <a:pt x="38100" y="98526"/>
                    <a:pt x="40233" y="96393"/>
                    <a:pt x="42862" y="96393"/>
                  </a:cubicBezTo>
                  <a:lnTo>
                    <a:pt x="374904" y="96393"/>
                  </a:lnTo>
                  <a:cubicBezTo>
                    <a:pt x="377532" y="96393"/>
                    <a:pt x="379666" y="98526"/>
                    <a:pt x="379666" y="101155"/>
                  </a:cubicBezTo>
                  <a:lnTo>
                    <a:pt x="379666" y="181736"/>
                  </a:lnTo>
                  <a:cubicBezTo>
                    <a:pt x="379666" y="192262"/>
                    <a:pt x="388191" y="200786"/>
                    <a:pt x="398716" y="200786"/>
                  </a:cubicBezTo>
                  <a:cubicBezTo>
                    <a:pt x="409241" y="200786"/>
                    <a:pt x="417766" y="192262"/>
                    <a:pt x="417766" y="181736"/>
                  </a:cubicBezTo>
                  <a:lnTo>
                    <a:pt x="417766" y="57150"/>
                  </a:lnTo>
                  <a:cubicBezTo>
                    <a:pt x="417766" y="25584"/>
                    <a:pt x="392182" y="0"/>
                    <a:pt x="360616" y="0"/>
                  </a:cubicBezTo>
                  <a:lnTo>
                    <a:pt x="57150" y="0"/>
                  </a:lnTo>
                  <a:cubicBezTo>
                    <a:pt x="25584" y="0"/>
                    <a:pt x="0" y="25584"/>
                    <a:pt x="0" y="57150"/>
                  </a:cubicBezTo>
                  <a:lnTo>
                    <a:pt x="0" y="276796"/>
                  </a:lnTo>
                  <a:moveTo>
                    <a:pt x="166115" y="38100"/>
                  </a:moveTo>
                  <a:cubicBezTo>
                    <a:pt x="171973" y="37871"/>
                    <a:pt x="177384" y="41243"/>
                    <a:pt x="179755" y="46605"/>
                  </a:cubicBezTo>
                  <a:cubicBezTo>
                    <a:pt x="182118" y="51968"/>
                    <a:pt x="180975" y="58235"/>
                    <a:pt x="176850" y="62407"/>
                  </a:cubicBezTo>
                  <a:cubicBezTo>
                    <a:pt x="172735" y="66579"/>
                    <a:pt x="166487" y="67818"/>
                    <a:pt x="161086" y="65522"/>
                  </a:cubicBezTo>
                  <a:cubicBezTo>
                    <a:pt x="155695" y="63226"/>
                    <a:pt x="152247" y="57864"/>
                    <a:pt x="152400" y="52006"/>
                  </a:cubicBezTo>
                  <a:cubicBezTo>
                    <a:pt x="152590" y="44481"/>
                    <a:pt x="158591" y="38395"/>
                    <a:pt x="166115" y="38100"/>
                  </a:cubicBezTo>
                  <a:moveTo>
                    <a:pt x="118681" y="38100"/>
                  </a:moveTo>
                  <a:cubicBezTo>
                    <a:pt x="124482" y="38100"/>
                    <a:pt x="129701" y="41605"/>
                    <a:pt x="131902" y="46967"/>
                  </a:cubicBezTo>
                  <a:cubicBezTo>
                    <a:pt x="134102" y="52330"/>
                    <a:pt x="132845" y="58483"/>
                    <a:pt x="128711" y="62560"/>
                  </a:cubicBezTo>
                  <a:cubicBezTo>
                    <a:pt x="124586" y="66627"/>
                    <a:pt x="118414" y="67798"/>
                    <a:pt x="113080" y="65531"/>
                  </a:cubicBezTo>
                  <a:cubicBezTo>
                    <a:pt x="107746" y="63265"/>
                    <a:pt x="104317" y="57988"/>
                    <a:pt x="104393" y="52196"/>
                  </a:cubicBezTo>
                  <a:cubicBezTo>
                    <a:pt x="104393" y="48425"/>
                    <a:pt x="105908" y="44805"/>
                    <a:pt x="108594" y="42157"/>
                  </a:cubicBezTo>
                  <a:cubicBezTo>
                    <a:pt x="111271" y="39509"/>
                    <a:pt x="114909" y="38052"/>
                    <a:pt x="118681" y="38100"/>
                  </a:cubicBezTo>
                  <a:moveTo>
                    <a:pt x="71247" y="38100"/>
                  </a:moveTo>
                  <a:cubicBezTo>
                    <a:pt x="77076" y="38023"/>
                    <a:pt x="82372" y="41500"/>
                    <a:pt x="84620" y="46882"/>
                  </a:cubicBezTo>
                  <a:cubicBezTo>
                    <a:pt x="86858" y="52254"/>
                    <a:pt x="85620" y="58464"/>
                    <a:pt x="81467" y="62560"/>
                  </a:cubicBezTo>
                  <a:cubicBezTo>
                    <a:pt x="77314" y="66655"/>
                    <a:pt x="71094" y="67818"/>
                    <a:pt x="65741" y="65493"/>
                  </a:cubicBezTo>
                  <a:cubicBezTo>
                    <a:pt x="60398" y="63169"/>
                    <a:pt x="56997" y="57835"/>
                    <a:pt x="57150" y="52006"/>
                  </a:cubicBezTo>
                  <a:cubicBezTo>
                    <a:pt x="57254" y="44291"/>
                    <a:pt x="63531" y="38100"/>
                    <a:pt x="71247" y="38100"/>
                  </a:cubicBezTo>
                  <a:moveTo>
                    <a:pt x="274320" y="237934"/>
                  </a:moveTo>
                  <a:cubicBezTo>
                    <a:pt x="274358" y="241277"/>
                    <a:pt x="271910" y="244125"/>
                    <a:pt x="268604" y="244602"/>
                  </a:cubicBezTo>
                  <a:lnTo>
                    <a:pt x="265176" y="244602"/>
                  </a:lnTo>
                  <a:cubicBezTo>
                    <a:pt x="256232" y="245544"/>
                    <a:pt x="249164" y="252612"/>
                    <a:pt x="248221" y="261556"/>
                  </a:cubicBezTo>
                  <a:lnTo>
                    <a:pt x="248221" y="264985"/>
                  </a:lnTo>
                  <a:cubicBezTo>
                    <a:pt x="247745" y="268290"/>
                    <a:pt x="244897" y="270738"/>
                    <a:pt x="241554" y="270700"/>
                  </a:cubicBezTo>
                  <a:cubicBezTo>
                    <a:pt x="238258" y="270719"/>
                    <a:pt x="235467" y="268262"/>
                    <a:pt x="235077" y="264985"/>
                  </a:cubicBezTo>
                  <a:lnTo>
                    <a:pt x="235077" y="261556"/>
                  </a:lnTo>
                  <a:cubicBezTo>
                    <a:pt x="233810" y="252764"/>
                    <a:pt x="226914" y="245868"/>
                    <a:pt x="218122" y="244602"/>
                  </a:cubicBezTo>
                  <a:lnTo>
                    <a:pt x="214502" y="244602"/>
                  </a:lnTo>
                  <a:cubicBezTo>
                    <a:pt x="211197" y="244125"/>
                    <a:pt x="208749" y="241277"/>
                    <a:pt x="208788" y="237934"/>
                  </a:cubicBezTo>
                  <a:cubicBezTo>
                    <a:pt x="208768" y="234638"/>
                    <a:pt x="211226" y="231848"/>
                    <a:pt x="214502" y="231457"/>
                  </a:cubicBezTo>
                  <a:lnTo>
                    <a:pt x="218122" y="231457"/>
                  </a:lnTo>
                  <a:cubicBezTo>
                    <a:pt x="226914" y="230190"/>
                    <a:pt x="233810" y="223294"/>
                    <a:pt x="235077" y="214503"/>
                  </a:cubicBezTo>
                  <a:lnTo>
                    <a:pt x="235077" y="211073"/>
                  </a:lnTo>
                  <a:cubicBezTo>
                    <a:pt x="235467" y="207797"/>
                    <a:pt x="238258" y="205339"/>
                    <a:pt x="241554" y="205359"/>
                  </a:cubicBezTo>
                  <a:cubicBezTo>
                    <a:pt x="244897" y="205320"/>
                    <a:pt x="247745" y="207768"/>
                    <a:pt x="248221" y="211073"/>
                  </a:cubicBezTo>
                  <a:lnTo>
                    <a:pt x="248221" y="214503"/>
                  </a:lnTo>
                  <a:cubicBezTo>
                    <a:pt x="249164" y="223446"/>
                    <a:pt x="256232" y="230514"/>
                    <a:pt x="265176" y="231457"/>
                  </a:cubicBezTo>
                  <a:lnTo>
                    <a:pt x="268604" y="231457"/>
                  </a:lnTo>
                  <a:cubicBezTo>
                    <a:pt x="271881" y="231848"/>
                    <a:pt x="274339" y="234638"/>
                    <a:pt x="274320" y="237934"/>
                  </a:cubicBezTo>
                  <a:moveTo>
                    <a:pt x="344995" y="171450"/>
                  </a:moveTo>
                  <a:cubicBezTo>
                    <a:pt x="345014" y="174745"/>
                    <a:pt x="342557" y="177536"/>
                    <a:pt x="339280" y="177927"/>
                  </a:cubicBezTo>
                  <a:lnTo>
                    <a:pt x="335851" y="177927"/>
                  </a:lnTo>
                  <a:cubicBezTo>
                    <a:pt x="327059" y="179193"/>
                    <a:pt x="320163" y="186089"/>
                    <a:pt x="318897" y="194881"/>
                  </a:cubicBezTo>
                  <a:lnTo>
                    <a:pt x="318897" y="198501"/>
                  </a:lnTo>
                  <a:cubicBezTo>
                    <a:pt x="318354" y="201701"/>
                    <a:pt x="315572" y="204044"/>
                    <a:pt x="312324" y="204044"/>
                  </a:cubicBezTo>
                  <a:cubicBezTo>
                    <a:pt x="309076" y="204044"/>
                    <a:pt x="306295" y="201701"/>
                    <a:pt x="305752" y="198501"/>
                  </a:cubicBezTo>
                  <a:lnTo>
                    <a:pt x="305752" y="194881"/>
                  </a:lnTo>
                  <a:cubicBezTo>
                    <a:pt x="304485" y="186089"/>
                    <a:pt x="297589" y="179193"/>
                    <a:pt x="288797" y="177927"/>
                  </a:cubicBezTo>
                  <a:lnTo>
                    <a:pt x="285178" y="177927"/>
                  </a:lnTo>
                  <a:cubicBezTo>
                    <a:pt x="281901" y="177536"/>
                    <a:pt x="279444" y="174745"/>
                    <a:pt x="279463" y="171450"/>
                  </a:cubicBezTo>
                  <a:cubicBezTo>
                    <a:pt x="279520" y="168078"/>
                    <a:pt x="282025" y="165249"/>
                    <a:pt x="285368" y="164782"/>
                  </a:cubicBezTo>
                  <a:lnTo>
                    <a:pt x="288797" y="164782"/>
                  </a:lnTo>
                  <a:cubicBezTo>
                    <a:pt x="297741" y="163839"/>
                    <a:pt x="304809" y="156771"/>
                    <a:pt x="305752" y="147828"/>
                  </a:cubicBezTo>
                  <a:lnTo>
                    <a:pt x="305752" y="144398"/>
                  </a:lnTo>
                  <a:cubicBezTo>
                    <a:pt x="306295" y="141198"/>
                    <a:pt x="309076" y="138855"/>
                    <a:pt x="312324" y="138855"/>
                  </a:cubicBezTo>
                  <a:cubicBezTo>
                    <a:pt x="315572" y="138855"/>
                    <a:pt x="318354" y="141198"/>
                    <a:pt x="318897" y="144398"/>
                  </a:cubicBezTo>
                  <a:lnTo>
                    <a:pt x="318897" y="147828"/>
                  </a:lnTo>
                  <a:cubicBezTo>
                    <a:pt x="319839" y="156771"/>
                    <a:pt x="326907" y="163839"/>
                    <a:pt x="335851" y="164782"/>
                  </a:cubicBezTo>
                  <a:lnTo>
                    <a:pt x="339280" y="164782"/>
                  </a:lnTo>
                  <a:cubicBezTo>
                    <a:pt x="342585" y="165258"/>
                    <a:pt x="345033" y="168106"/>
                    <a:pt x="344995" y="171450"/>
                  </a:cubicBezTo>
                  <a:moveTo>
                    <a:pt x="454152" y="419100"/>
                  </a:moveTo>
                  <a:lnTo>
                    <a:pt x="405955" y="324802"/>
                  </a:lnTo>
                  <a:cubicBezTo>
                    <a:pt x="405765" y="323992"/>
                    <a:pt x="405765" y="323135"/>
                    <a:pt x="405955" y="322326"/>
                  </a:cubicBezTo>
                  <a:lnTo>
                    <a:pt x="405955" y="255460"/>
                  </a:lnTo>
                  <a:cubicBezTo>
                    <a:pt x="405955" y="241153"/>
                    <a:pt x="394354" y="229552"/>
                    <a:pt x="380047" y="229552"/>
                  </a:cubicBezTo>
                  <a:lnTo>
                    <a:pt x="338137" y="229552"/>
                  </a:lnTo>
                  <a:cubicBezTo>
                    <a:pt x="323830" y="229552"/>
                    <a:pt x="312229" y="241153"/>
                    <a:pt x="312229" y="255460"/>
                  </a:cubicBezTo>
                  <a:lnTo>
                    <a:pt x="312229" y="322326"/>
                  </a:lnTo>
                  <a:cubicBezTo>
                    <a:pt x="312400" y="323078"/>
                    <a:pt x="312400" y="323859"/>
                    <a:pt x="312229" y="324611"/>
                  </a:cubicBezTo>
                  <a:lnTo>
                    <a:pt x="295465" y="357568"/>
                  </a:lnTo>
                  <a:cubicBezTo>
                    <a:pt x="294884" y="358892"/>
                    <a:pt x="294560" y="360311"/>
                    <a:pt x="294513" y="361759"/>
                  </a:cubicBezTo>
                  <a:lnTo>
                    <a:pt x="294513" y="424624"/>
                  </a:lnTo>
                  <a:cubicBezTo>
                    <a:pt x="294827" y="433501"/>
                    <a:pt x="293731" y="442379"/>
                    <a:pt x="291274" y="450913"/>
                  </a:cubicBezTo>
                  <a:cubicBezTo>
                    <a:pt x="290626" y="452237"/>
                    <a:pt x="290626" y="453780"/>
                    <a:pt x="291274" y="455104"/>
                  </a:cubicBezTo>
                  <a:cubicBezTo>
                    <a:pt x="292217" y="456361"/>
                    <a:pt x="293712" y="457066"/>
                    <a:pt x="295275" y="457009"/>
                  </a:cubicBezTo>
                  <a:lnTo>
                    <a:pt x="431291" y="457009"/>
                  </a:lnTo>
                  <a:cubicBezTo>
                    <a:pt x="440436" y="457123"/>
                    <a:pt x="448960" y="452370"/>
                    <a:pt x="453666" y="444522"/>
                  </a:cubicBezTo>
                  <a:cubicBezTo>
                    <a:pt x="458371" y="436683"/>
                    <a:pt x="458562" y="426929"/>
                    <a:pt x="454152" y="418909"/>
                  </a:cubicBezTo>
                  <a:moveTo>
                    <a:pt x="384619" y="356425"/>
                  </a:moveTo>
                  <a:cubicBezTo>
                    <a:pt x="383628" y="357987"/>
                    <a:pt x="381895" y="358921"/>
                    <a:pt x="380047" y="358902"/>
                  </a:cubicBezTo>
                  <a:lnTo>
                    <a:pt x="337566" y="358902"/>
                  </a:lnTo>
                  <a:cubicBezTo>
                    <a:pt x="335737" y="358921"/>
                    <a:pt x="334032" y="357978"/>
                    <a:pt x="333089" y="356406"/>
                  </a:cubicBezTo>
                  <a:cubicBezTo>
                    <a:pt x="332146" y="354834"/>
                    <a:pt x="332117" y="352882"/>
                    <a:pt x="332993" y="351281"/>
                  </a:cubicBezTo>
                  <a:lnTo>
                    <a:pt x="339280" y="338709"/>
                  </a:lnTo>
                  <a:cubicBezTo>
                    <a:pt x="341776" y="334641"/>
                    <a:pt x="343090" y="329955"/>
                    <a:pt x="343090" y="325183"/>
                  </a:cubicBezTo>
                  <a:lnTo>
                    <a:pt x="343090" y="266700"/>
                  </a:lnTo>
                  <a:cubicBezTo>
                    <a:pt x="343090" y="263861"/>
                    <a:pt x="345395" y="261556"/>
                    <a:pt x="348234" y="261556"/>
                  </a:cubicBezTo>
                  <a:lnTo>
                    <a:pt x="368998" y="261556"/>
                  </a:lnTo>
                  <a:cubicBezTo>
                    <a:pt x="371836" y="261556"/>
                    <a:pt x="374141" y="263861"/>
                    <a:pt x="374141" y="266700"/>
                  </a:cubicBezTo>
                  <a:lnTo>
                    <a:pt x="374141" y="325754"/>
                  </a:lnTo>
                  <a:cubicBezTo>
                    <a:pt x="374103" y="330098"/>
                    <a:pt x="375218" y="334375"/>
                    <a:pt x="377380" y="338137"/>
                  </a:cubicBezTo>
                  <a:lnTo>
                    <a:pt x="384429" y="351853"/>
                  </a:lnTo>
                  <a:cubicBezTo>
                    <a:pt x="385086" y="353291"/>
                    <a:pt x="385152" y="354930"/>
                    <a:pt x="384619" y="356425"/>
                  </a:cubicBezTo>
                  <a:moveTo>
                    <a:pt x="259651" y="289941"/>
                  </a:moveTo>
                  <a:lnTo>
                    <a:pt x="221551" y="289941"/>
                  </a:lnTo>
                  <a:cubicBezTo>
                    <a:pt x="211026" y="289941"/>
                    <a:pt x="202501" y="298465"/>
                    <a:pt x="202501" y="308991"/>
                  </a:cubicBezTo>
                  <a:lnTo>
                    <a:pt x="202501" y="413385"/>
                  </a:lnTo>
                  <a:cubicBezTo>
                    <a:pt x="202501" y="428815"/>
                    <a:pt x="202501" y="457771"/>
                    <a:pt x="240601" y="457771"/>
                  </a:cubicBezTo>
                  <a:cubicBezTo>
                    <a:pt x="278701" y="457771"/>
                    <a:pt x="277748" y="428815"/>
                    <a:pt x="277748" y="413194"/>
                  </a:cubicBezTo>
                  <a:lnTo>
                    <a:pt x="277748" y="308610"/>
                  </a:lnTo>
                  <a:cubicBezTo>
                    <a:pt x="277558" y="298599"/>
                    <a:pt x="269652" y="290436"/>
                    <a:pt x="259651" y="289941"/>
                  </a:cubicBezTo>
                  <a:moveTo>
                    <a:pt x="253365" y="361950"/>
                  </a:moveTo>
                  <a:cubicBezTo>
                    <a:pt x="253365" y="363664"/>
                    <a:pt x="252031" y="365083"/>
                    <a:pt x="250316" y="365188"/>
                  </a:cubicBezTo>
                  <a:lnTo>
                    <a:pt x="231266" y="365188"/>
                  </a:lnTo>
                  <a:cubicBezTo>
                    <a:pt x="229704" y="364912"/>
                    <a:pt x="228571" y="363540"/>
                    <a:pt x="228600" y="361950"/>
                  </a:cubicBezTo>
                  <a:lnTo>
                    <a:pt x="228600" y="320992"/>
                  </a:lnTo>
                  <a:cubicBezTo>
                    <a:pt x="228600" y="319306"/>
                    <a:pt x="229962" y="317944"/>
                    <a:pt x="231647" y="317944"/>
                  </a:cubicBezTo>
                  <a:lnTo>
                    <a:pt x="250697" y="317944"/>
                  </a:lnTo>
                  <a:cubicBezTo>
                    <a:pt x="252383" y="317944"/>
                    <a:pt x="253745" y="319306"/>
                    <a:pt x="253745" y="320992"/>
                  </a:cubicBezTo>
                  <a:lnTo>
                    <a:pt x="253745" y="361950"/>
                  </a:ln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6" name="Rounded Rectangle 14">
              <a:extLst>
                <a:ext uri="{FF2B5EF4-FFF2-40B4-BE49-F238E27FC236}">
                  <a16:creationId xmlns:a16="http://schemas.microsoft.com/office/drawing/2014/main" id="{EC2187A2-A3D5-1A6F-9605-9A4458081A8A}"/>
                </a:ext>
              </a:extLst>
            </p:cNvPr>
            <p:cNvSpPr/>
            <p:nvPr/>
          </p:nvSpPr>
          <p:spPr>
            <a:xfrm>
              <a:off x="3394109" y="3416264"/>
              <a:ext cx="441045" cy="431577"/>
            </a:xfrm>
            <a:custGeom>
              <a:avLst/>
              <a:gdLst/>
              <a:ahLst/>
              <a:cxnLst/>
              <a:rect l="0" t="0" r="0" b="0"/>
              <a:pathLst>
                <a:path w="441045" h="431577">
                  <a:moveTo>
                    <a:pt x="436854" y="353634"/>
                  </a:moveTo>
                  <a:lnTo>
                    <a:pt x="391706" y="274767"/>
                  </a:lnTo>
                  <a:cubicBezTo>
                    <a:pt x="390848" y="273319"/>
                    <a:pt x="389296" y="272434"/>
                    <a:pt x="387610" y="272434"/>
                  </a:cubicBezTo>
                  <a:cubicBezTo>
                    <a:pt x="385924" y="272434"/>
                    <a:pt x="384371" y="273319"/>
                    <a:pt x="383514" y="274767"/>
                  </a:cubicBezTo>
                  <a:cubicBezTo>
                    <a:pt x="360359" y="309905"/>
                    <a:pt x="326488" y="336623"/>
                    <a:pt x="286931" y="350967"/>
                  </a:cubicBezTo>
                  <a:cubicBezTo>
                    <a:pt x="285597" y="351453"/>
                    <a:pt x="284559" y="352491"/>
                    <a:pt x="284073" y="353825"/>
                  </a:cubicBezTo>
                  <a:cubicBezTo>
                    <a:pt x="283397" y="355072"/>
                    <a:pt x="283397" y="356577"/>
                    <a:pt x="284073" y="357825"/>
                  </a:cubicBezTo>
                  <a:lnTo>
                    <a:pt x="322173" y="421643"/>
                  </a:lnTo>
                  <a:cubicBezTo>
                    <a:pt x="325935" y="427977"/>
                    <a:pt x="333013" y="431577"/>
                    <a:pt x="340347" y="430882"/>
                  </a:cubicBezTo>
                  <a:cubicBezTo>
                    <a:pt x="347681" y="430187"/>
                    <a:pt x="353958" y="425329"/>
                    <a:pt x="356463" y="418404"/>
                  </a:cubicBezTo>
                  <a:lnTo>
                    <a:pt x="372275" y="374780"/>
                  </a:lnTo>
                  <a:lnTo>
                    <a:pt x="417804" y="382400"/>
                  </a:lnTo>
                  <a:cubicBezTo>
                    <a:pt x="425138" y="383743"/>
                    <a:pt x="432577" y="380695"/>
                    <a:pt x="436854" y="374589"/>
                  </a:cubicBezTo>
                  <a:cubicBezTo>
                    <a:pt x="441045" y="368236"/>
                    <a:pt x="441045" y="359987"/>
                    <a:pt x="436854" y="353634"/>
                  </a:cubicBezTo>
                  <a:moveTo>
                    <a:pt x="57759" y="274005"/>
                  </a:moveTo>
                  <a:cubicBezTo>
                    <a:pt x="56759" y="272843"/>
                    <a:pt x="55283" y="272214"/>
                    <a:pt x="53759" y="272291"/>
                  </a:cubicBezTo>
                  <a:cubicBezTo>
                    <a:pt x="52111" y="272272"/>
                    <a:pt x="50587" y="273148"/>
                    <a:pt x="49758" y="274577"/>
                  </a:cubicBezTo>
                  <a:lnTo>
                    <a:pt x="3657" y="353634"/>
                  </a:lnTo>
                  <a:cubicBezTo>
                    <a:pt x="0" y="360045"/>
                    <a:pt x="371" y="367979"/>
                    <a:pt x="4610" y="374018"/>
                  </a:cubicBezTo>
                  <a:cubicBezTo>
                    <a:pt x="8886" y="380123"/>
                    <a:pt x="16325" y="383171"/>
                    <a:pt x="23660" y="381828"/>
                  </a:cubicBezTo>
                  <a:lnTo>
                    <a:pt x="69189" y="374208"/>
                  </a:lnTo>
                  <a:lnTo>
                    <a:pt x="85001" y="417833"/>
                  </a:lnTo>
                  <a:cubicBezTo>
                    <a:pt x="87506" y="424757"/>
                    <a:pt x="93783" y="429615"/>
                    <a:pt x="101117" y="430310"/>
                  </a:cubicBezTo>
                  <a:cubicBezTo>
                    <a:pt x="108451" y="431006"/>
                    <a:pt x="115528" y="427405"/>
                    <a:pt x="119291" y="421071"/>
                  </a:cubicBezTo>
                  <a:lnTo>
                    <a:pt x="157391" y="357063"/>
                  </a:lnTo>
                  <a:cubicBezTo>
                    <a:pt x="158067" y="355815"/>
                    <a:pt x="158067" y="354310"/>
                    <a:pt x="157391" y="353063"/>
                  </a:cubicBezTo>
                  <a:cubicBezTo>
                    <a:pt x="156848" y="351777"/>
                    <a:pt x="155819" y="350748"/>
                    <a:pt x="154533" y="350205"/>
                  </a:cubicBezTo>
                  <a:cubicBezTo>
                    <a:pt x="114928" y="335851"/>
                    <a:pt x="81000" y="309133"/>
                    <a:pt x="57759" y="274005"/>
                  </a:cubicBezTo>
                  <a:moveTo>
                    <a:pt x="387324" y="166754"/>
                  </a:moveTo>
                  <a:cubicBezTo>
                    <a:pt x="387324" y="74742"/>
                    <a:pt x="312772" y="133"/>
                    <a:pt x="220760" y="66"/>
                  </a:cubicBezTo>
                  <a:cubicBezTo>
                    <a:pt x="128758" y="0"/>
                    <a:pt x="54092" y="74495"/>
                    <a:pt x="53949" y="166497"/>
                  </a:cubicBezTo>
                  <a:cubicBezTo>
                    <a:pt x="53806" y="258508"/>
                    <a:pt x="128244" y="333232"/>
                    <a:pt x="220256" y="333441"/>
                  </a:cubicBezTo>
                  <a:cubicBezTo>
                    <a:pt x="312420" y="333546"/>
                    <a:pt x="387219" y="258918"/>
                    <a:pt x="387324" y="166754"/>
                  </a:cubicBezTo>
                  <a:moveTo>
                    <a:pt x="185966" y="223904"/>
                  </a:moveTo>
                  <a:lnTo>
                    <a:pt x="153009" y="192090"/>
                  </a:lnTo>
                  <a:cubicBezTo>
                    <a:pt x="147437" y="186509"/>
                    <a:pt x="147437" y="177479"/>
                    <a:pt x="153009" y="171897"/>
                  </a:cubicBezTo>
                  <a:cubicBezTo>
                    <a:pt x="155667" y="169173"/>
                    <a:pt x="159305" y="167639"/>
                    <a:pt x="163106" y="167639"/>
                  </a:cubicBezTo>
                  <a:cubicBezTo>
                    <a:pt x="166906" y="167639"/>
                    <a:pt x="170545" y="169173"/>
                    <a:pt x="173202" y="171897"/>
                  </a:cubicBezTo>
                  <a:lnTo>
                    <a:pt x="206159" y="204854"/>
                  </a:lnTo>
                  <a:lnTo>
                    <a:pt x="277406" y="111890"/>
                  </a:lnTo>
                  <a:cubicBezTo>
                    <a:pt x="280396" y="107537"/>
                    <a:pt x="285540" y="105194"/>
                    <a:pt x="290779" y="105784"/>
                  </a:cubicBezTo>
                  <a:cubicBezTo>
                    <a:pt x="296027" y="106375"/>
                    <a:pt x="300513" y="109813"/>
                    <a:pt x="302466" y="114719"/>
                  </a:cubicBezTo>
                  <a:cubicBezTo>
                    <a:pt x="304409" y="119624"/>
                    <a:pt x="303485" y="125206"/>
                    <a:pt x="300075" y="129225"/>
                  </a:cubicBezTo>
                  <a:lnTo>
                    <a:pt x="229019" y="221999"/>
                  </a:lnTo>
                  <a:cubicBezTo>
                    <a:pt x="224094" y="228704"/>
                    <a:pt x="216455" y="232895"/>
                    <a:pt x="208159" y="233448"/>
                  </a:cubicBezTo>
                  <a:cubicBezTo>
                    <a:pt x="199853" y="234000"/>
                    <a:pt x="191728" y="230857"/>
                    <a:pt x="185966" y="224856"/>
                  </a:cubicBezTo>
                  <a:lnTo>
                    <a:pt x="185966" y="223904"/>
                  </a:ln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7" name="Rounded Rectangle 15">
              <a:extLst>
                <a:ext uri="{FF2B5EF4-FFF2-40B4-BE49-F238E27FC236}">
                  <a16:creationId xmlns:a16="http://schemas.microsoft.com/office/drawing/2014/main" id="{91ED706C-39D3-6629-B637-2B1AB18FE765}"/>
                </a:ext>
              </a:extLst>
            </p:cNvPr>
            <p:cNvSpPr/>
            <p:nvPr/>
          </p:nvSpPr>
          <p:spPr>
            <a:xfrm>
              <a:off x="5557466" y="3402234"/>
              <a:ext cx="457781" cy="458409"/>
            </a:xfrm>
            <a:custGeom>
              <a:avLst/>
              <a:gdLst/>
              <a:ahLst/>
              <a:cxnLst/>
              <a:rect l="0" t="0" r="0" b="0"/>
              <a:pathLst>
                <a:path w="457781" h="458409">
                  <a:moveTo>
                    <a:pt x="215074" y="44195"/>
                  </a:moveTo>
                  <a:lnTo>
                    <a:pt x="102298" y="156972"/>
                  </a:lnTo>
                  <a:cubicBezTo>
                    <a:pt x="101412" y="157924"/>
                    <a:pt x="100174" y="158476"/>
                    <a:pt x="98869" y="158495"/>
                  </a:cubicBezTo>
                  <a:lnTo>
                    <a:pt x="38100" y="158495"/>
                  </a:lnTo>
                  <a:cubicBezTo>
                    <a:pt x="17059" y="158495"/>
                    <a:pt x="0" y="175555"/>
                    <a:pt x="0" y="196595"/>
                  </a:cubicBezTo>
                  <a:lnTo>
                    <a:pt x="0" y="261556"/>
                  </a:lnTo>
                  <a:cubicBezTo>
                    <a:pt x="0" y="282597"/>
                    <a:pt x="17059" y="299656"/>
                    <a:pt x="38100" y="299656"/>
                  </a:cubicBezTo>
                  <a:lnTo>
                    <a:pt x="98869" y="299656"/>
                  </a:lnTo>
                  <a:cubicBezTo>
                    <a:pt x="100126" y="299694"/>
                    <a:pt x="101345" y="300170"/>
                    <a:pt x="102298" y="300990"/>
                  </a:cubicBezTo>
                  <a:lnTo>
                    <a:pt x="215074" y="413956"/>
                  </a:lnTo>
                  <a:cubicBezTo>
                    <a:pt x="220503" y="419423"/>
                    <a:pt x="228685" y="421090"/>
                    <a:pt x="235819" y="418176"/>
                  </a:cubicBezTo>
                  <a:cubicBezTo>
                    <a:pt x="242944" y="415251"/>
                    <a:pt x="247621" y="408327"/>
                    <a:pt x="247650" y="400621"/>
                  </a:cubicBezTo>
                  <a:lnTo>
                    <a:pt x="247650" y="57721"/>
                  </a:lnTo>
                  <a:cubicBezTo>
                    <a:pt x="247697" y="49977"/>
                    <a:pt x="243049" y="42986"/>
                    <a:pt x="235905" y="40014"/>
                  </a:cubicBezTo>
                  <a:cubicBezTo>
                    <a:pt x="228761" y="37052"/>
                    <a:pt x="220522" y="38700"/>
                    <a:pt x="215074" y="44195"/>
                  </a:cubicBezTo>
                  <a:moveTo>
                    <a:pt x="455294" y="219075"/>
                  </a:moveTo>
                  <a:cubicBezTo>
                    <a:pt x="450751" y="209626"/>
                    <a:pt x="439426" y="205625"/>
                    <a:pt x="429958" y="210121"/>
                  </a:cubicBezTo>
                  <a:lnTo>
                    <a:pt x="381000" y="234505"/>
                  </a:lnTo>
                  <a:lnTo>
                    <a:pt x="386143" y="191071"/>
                  </a:lnTo>
                  <a:cubicBezTo>
                    <a:pt x="386753" y="184318"/>
                    <a:pt x="383724" y="177746"/>
                    <a:pt x="378190" y="173821"/>
                  </a:cubicBezTo>
                  <a:cubicBezTo>
                    <a:pt x="372656" y="169897"/>
                    <a:pt x="365455" y="169211"/>
                    <a:pt x="359283" y="172021"/>
                  </a:cubicBezTo>
                  <a:lnTo>
                    <a:pt x="279082" y="210121"/>
                  </a:lnTo>
                  <a:cubicBezTo>
                    <a:pt x="272443" y="212674"/>
                    <a:pt x="267776" y="218713"/>
                    <a:pt x="266985" y="225780"/>
                  </a:cubicBezTo>
                  <a:cubicBezTo>
                    <a:pt x="266195" y="232848"/>
                    <a:pt x="269405" y="239772"/>
                    <a:pt x="275310" y="243735"/>
                  </a:cubicBezTo>
                  <a:cubicBezTo>
                    <a:pt x="281225" y="247688"/>
                    <a:pt x="288845" y="248031"/>
                    <a:pt x="295084" y="244602"/>
                  </a:cubicBezTo>
                  <a:lnTo>
                    <a:pt x="342900" y="220979"/>
                  </a:lnTo>
                  <a:lnTo>
                    <a:pt x="336423" y="264604"/>
                  </a:lnTo>
                  <a:cubicBezTo>
                    <a:pt x="335641" y="270100"/>
                    <a:pt x="337299" y="275663"/>
                    <a:pt x="340966" y="279834"/>
                  </a:cubicBezTo>
                  <a:cubicBezTo>
                    <a:pt x="344624" y="284006"/>
                    <a:pt x="349919" y="286378"/>
                    <a:pt x="355473" y="286321"/>
                  </a:cubicBezTo>
                  <a:cubicBezTo>
                    <a:pt x="358378" y="286331"/>
                    <a:pt x="361245" y="285683"/>
                    <a:pt x="363855" y="284416"/>
                  </a:cubicBezTo>
                  <a:lnTo>
                    <a:pt x="446151" y="244602"/>
                  </a:lnTo>
                  <a:cubicBezTo>
                    <a:pt x="450770" y="242458"/>
                    <a:pt x="454342" y="238544"/>
                    <a:pt x="456056" y="233753"/>
                  </a:cubicBezTo>
                  <a:cubicBezTo>
                    <a:pt x="457781" y="228952"/>
                    <a:pt x="457504" y="223666"/>
                    <a:pt x="455294" y="219075"/>
                  </a:cubicBezTo>
                  <a:moveTo>
                    <a:pt x="413575" y="421195"/>
                  </a:moveTo>
                  <a:lnTo>
                    <a:pt x="361950" y="398906"/>
                  </a:lnTo>
                  <a:lnTo>
                    <a:pt x="390144" y="364997"/>
                  </a:lnTo>
                  <a:cubicBezTo>
                    <a:pt x="394173" y="360083"/>
                    <a:pt x="395487" y="353491"/>
                    <a:pt x="393649" y="347414"/>
                  </a:cubicBezTo>
                  <a:cubicBezTo>
                    <a:pt x="391810" y="341337"/>
                    <a:pt x="387067" y="336575"/>
                    <a:pt x="381000" y="334708"/>
                  </a:cubicBezTo>
                  <a:lnTo>
                    <a:pt x="291845" y="305371"/>
                  </a:lnTo>
                  <a:cubicBezTo>
                    <a:pt x="281901" y="301961"/>
                    <a:pt x="271081" y="307247"/>
                    <a:pt x="267652" y="317182"/>
                  </a:cubicBezTo>
                  <a:cubicBezTo>
                    <a:pt x="266023" y="321983"/>
                    <a:pt x="266376" y="327231"/>
                    <a:pt x="268624" y="331774"/>
                  </a:cubicBezTo>
                  <a:cubicBezTo>
                    <a:pt x="270881" y="336318"/>
                    <a:pt x="274843" y="339766"/>
                    <a:pt x="279654" y="341375"/>
                  </a:cubicBezTo>
                  <a:lnTo>
                    <a:pt x="342900" y="362521"/>
                  </a:lnTo>
                  <a:lnTo>
                    <a:pt x="316039" y="394906"/>
                  </a:lnTo>
                  <a:cubicBezTo>
                    <a:pt x="312239" y="399526"/>
                    <a:pt x="310829" y="405660"/>
                    <a:pt x="312229" y="411479"/>
                  </a:cubicBezTo>
                  <a:cubicBezTo>
                    <a:pt x="313620" y="417366"/>
                    <a:pt x="317715" y="422243"/>
                    <a:pt x="323278" y="424624"/>
                  </a:cubicBezTo>
                  <a:lnTo>
                    <a:pt x="399478" y="456818"/>
                  </a:lnTo>
                  <a:cubicBezTo>
                    <a:pt x="401840" y="457781"/>
                    <a:pt x="404355" y="458295"/>
                    <a:pt x="406908" y="458343"/>
                  </a:cubicBezTo>
                  <a:cubicBezTo>
                    <a:pt x="414623" y="458409"/>
                    <a:pt x="421614" y="453828"/>
                    <a:pt x="424624" y="446722"/>
                  </a:cubicBezTo>
                  <a:cubicBezTo>
                    <a:pt x="426729" y="441883"/>
                    <a:pt x="426729" y="436397"/>
                    <a:pt x="424634" y="431558"/>
                  </a:cubicBezTo>
                  <a:cubicBezTo>
                    <a:pt x="422538" y="426729"/>
                    <a:pt x="418538" y="422976"/>
                    <a:pt x="413575" y="421195"/>
                  </a:cubicBezTo>
                  <a:moveTo>
                    <a:pt x="285750" y="154876"/>
                  </a:moveTo>
                  <a:cubicBezTo>
                    <a:pt x="287883" y="154638"/>
                    <a:pt x="289960" y="154000"/>
                    <a:pt x="291845" y="152971"/>
                  </a:cubicBezTo>
                  <a:lnTo>
                    <a:pt x="381000" y="123634"/>
                  </a:lnTo>
                  <a:cubicBezTo>
                    <a:pt x="386972" y="121634"/>
                    <a:pt x="391572" y="116814"/>
                    <a:pt x="393287" y="110756"/>
                  </a:cubicBezTo>
                  <a:cubicBezTo>
                    <a:pt x="395001" y="104689"/>
                    <a:pt x="393611" y="98174"/>
                    <a:pt x="389572" y="93345"/>
                  </a:cubicBezTo>
                  <a:lnTo>
                    <a:pt x="361950" y="59436"/>
                  </a:lnTo>
                  <a:lnTo>
                    <a:pt x="414527" y="37147"/>
                  </a:lnTo>
                  <a:cubicBezTo>
                    <a:pt x="423833" y="32680"/>
                    <a:pt x="427891" y="21612"/>
                    <a:pt x="423672" y="12192"/>
                  </a:cubicBezTo>
                  <a:cubicBezTo>
                    <a:pt x="421700" y="7496"/>
                    <a:pt x="417928" y="3790"/>
                    <a:pt x="413204" y="1895"/>
                  </a:cubicBezTo>
                  <a:cubicBezTo>
                    <a:pt x="408479" y="0"/>
                    <a:pt x="403193" y="66"/>
                    <a:pt x="398526" y="2095"/>
                  </a:cubicBezTo>
                  <a:lnTo>
                    <a:pt x="322326" y="34290"/>
                  </a:lnTo>
                  <a:cubicBezTo>
                    <a:pt x="316763" y="36671"/>
                    <a:pt x="312667" y="41548"/>
                    <a:pt x="311276" y="47434"/>
                  </a:cubicBezTo>
                  <a:cubicBezTo>
                    <a:pt x="309876" y="53254"/>
                    <a:pt x="311286" y="59388"/>
                    <a:pt x="315087" y="64008"/>
                  </a:cubicBezTo>
                  <a:lnTo>
                    <a:pt x="342900" y="95821"/>
                  </a:lnTo>
                  <a:lnTo>
                    <a:pt x="279654" y="117729"/>
                  </a:lnTo>
                  <a:cubicBezTo>
                    <a:pt x="270738" y="120662"/>
                    <a:pt x="265280" y="129644"/>
                    <a:pt x="266804" y="138912"/>
                  </a:cubicBezTo>
                  <a:cubicBezTo>
                    <a:pt x="268319" y="148170"/>
                    <a:pt x="276367" y="154952"/>
                    <a:pt x="285750" y="154876"/>
                  </a:cubicBez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8" name="TextBox 17437">
              <a:extLst>
                <a:ext uri="{FF2B5EF4-FFF2-40B4-BE49-F238E27FC236}">
                  <a16:creationId xmlns:a16="http://schemas.microsoft.com/office/drawing/2014/main" id="{9AB7B979-B0AB-3795-67CC-5DB49643BEE5}"/>
                </a:ext>
              </a:extLst>
            </p:cNvPr>
            <p:cNvSpPr txBox="1"/>
            <p:nvPr/>
          </p:nvSpPr>
          <p:spPr>
            <a:xfrm>
              <a:off x="2852651" y="1169193"/>
              <a:ext cx="3695109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800" b="1">
                  <a:solidFill>
                    <a:srgbClr val="484848"/>
                  </a:solidFill>
                  <a:latin typeface="Roboto"/>
                </a:rPr>
                <a:t>Exploring Quantum TSP Feasibility</a:t>
              </a:r>
            </a:p>
          </p:txBody>
        </p:sp>
        <p:sp>
          <p:nvSpPr>
            <p:cNvPr id="17439" name="TextBox 17438">
              <a:extLst>
                <a:ext uri="{FF2B5EF4-FFF2-40B4-BE49-F238E27FC236}">
                  <a16:creationId xmlns:a16="http://schemas.microsoft.com/office/drawing/2014/main" id="{DAB4E42F-6CD4-26C8-22E8-B715C9909914}"/>
                </a:ext>
              </a:extLst>
            </p:cNvPr>
            <p:cNvSpPr txBox="1"/>
            <p:nvPr/>
          </p:nvSpPr>
          <p:spPr>
            <a:xfrm>
              <a:off x="1793681" y="2141220"/>
              <a:ext cx="81111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1" dirty="0">
                  <a:solidFill>
                    <a:srgbClr val="1EABD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Solutions</a:t>
              </a:r>
            </a:p>
          </p:txBody>
        </p:sp>
        <p:sp>
          <p:nvSpPr>
            <p:cNvPr id="17440" name="TextBox 17439">
              <a:extLst>
                <a:ext uri="{FF2B5EF4-FFF2-40B4-BE49-F238E27FC236}">
                  <a16:creationId xmlns:a16="http://schemas.microsoft.com/office/drawing/2014/main" id="{91D296FB-53CC-9C74-CD37-9C8412C5DEB3}"/>
                </a:ext>
              </a:extLst>
            </p:cNvPr>
            <p:cNvSpPr txBox="1"/>
            <p:nvPr/>
          </p:nvSpPr>
          <p:spPr>
            <a:xfrm>
              <a:off x="1255874" y="2445543"/>
              <a:ext cx="1886735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Keep prototype small, test
on simulators first.</a:t>
              </a:r>
            </a:p>
          </p:txBody>
        </p:sp>
        <p:sp>
          <p:nvSpPr>
            <p:cNvPr id="17441" name="TextBox 17440">
              <a:extLst>
                <a:ext uri="{FF2B5EF4-FFF2-40B4-BE49-F238E27FC236}">
                  <a16:creationId xmlns:a16="http://schemas.microsoft.com/office/drawing/2014/main" id="{E0489AA2-8D27-DE9D-B087-672E8EF196A5}"/>
                </a:ext>
              </a:extLst>
            </p:cNvPr>
            <p:cNvSpPr txBox="1"/>
            <p:nvPr/>
          </p:nvSpPr>
          <p:spPr>
            <a:xfrm>
              <a:off x="1688219" y="3351403"/>
              <a:ext cx="91531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1" dirty="0">
                  <a:solidFill>
                    <a:srgbClr val="3CC58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Feasibility</a:t>
              </a:r>
            </a:p>
          </p:txBody>
        </p:sp>
        <p:sp>
          <p:nvSpPr>
            <p:cNvPr id="17442" name="TextBox 17441">
              <a:extLst>
                <a:ext uri="{FF2B5EF4-FFF2-40B4-BE49-F238E27FC236}">
                  <a16:creationId xmlns:a16="http://schemas.microsoft.com/office/drawing/2014/main" id="{1A6DAAF2-9E2E-056C-5BDC-702513286A06}"/>
                </a:ext>
              </a:extLst>
            </p:cNvPr>
            <p:cNvSpPr txBox="1"/>
            <p:nvPr/>
          </p:nvSpPr>
          <p:spPr>
            <a:xfrm>
              <a:off x="6690941" y="3385217"/>
              <a:ext cx="95859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1" dirty="0">
                  <a:solidFill>
                    <a:srgbClr val="E5575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Challenges</a:t>
              </a:r>
            </a:p>
          </p:txBody>
        </p:sp>
        <p:sp>
          <p:nvSpPr>
            <p:cNvPr id="17443" name="TextBox 17442">
              <a:extLst>
                <a:ext uri="{FF2B5EF4-FFF2-40B4-BE49-F238E27FC236}">
                  <a16:creationId xmlns:a16="http://schemas.microsoft.com/office/drawing/2014/main" id="{90D7E049-90D9-E8E0-A0BF-4965C4F75ECE}"/>
                </a:ext>
              </a:extLst>
            </p:cNvPr>
            <p:cNvSpPr txBox="1"/>
            <p:nvPr/>
          </p:nvSpPr>
          <p:spPr>
            <a:xfrm>
              <a:off x="1025910" y="3702843"/>
              <a:ext cx="2009846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Small-scale TSP feasible on
simulators.</a:t>
              </a:r>
            </a:p>
          </p:txBody>
        </p:sp>
        <p:sp>
          <p:nvSpPr>
            <p:cNvPr id="17444" name="TextBox 17443">
              <a:extLst>
                <a:ext uri="{FF2B5EF4-FFF2-40B4-BE49-F238E27FC236}">
                  <a16:creationId xmlns:a16="http://schemas.microsoft.com/office/drawing/2014/main" id="{6E830E80-4AEC-8313-ED51-39E174688FA2}"/>
                </a:ext>
              </a:extLst>
            </p:cNvPr>
            <p:cNvSpPr txBox="1"/>
            <p:nvPr/>
          </p:nvSpPr>
          <p:spPr>
            <a:xfrm>
              <a:off x="6419841" y="3702843"/>
              <a:ext cx="1643079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Scaling and noise pose
significant challenges.</a:t>
              </a:r>
            </a:p>
          </p:txBody>
        </p:sp>
      </p:grpSp>
      <p:sp>
        <p:nvSpPr>
          <p:cNvPr id="17446" name="Oval 17445" descr="Your startup LOGO">
            <a:extLst>
              <a:ext uri="{FF2B5EF4-FFF2-40B4-BE49-F238E27FC236}">
                <a16:creationId xmlns:a16="http://schemas.microsoft.com/office/drawing/2014/main" id="{C9394EDB-8807-E7B1-FF04-10AD4B2095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4" y="176046"/>
            <a:ext cx="1542570" cy="1143000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2705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7533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2864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2864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876C-4511-C633-ABA1-E871E20234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62042"/>
            <a:ext cx="2049596" cy="661760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EC248370-2E01-1391-80B5-94C009A81039}"/>
              </a:ext>
            </a:extLst>
          </p:cNvPr>
          <p:cNvGrpSpPr/>
          <p:nvPr/>
        </p:nvGrpSpPr>
        <p:grpSpPr>
          <a:xfrm>
            <a:off x="2768932" y="999258"/>
            <a:ext cx="6314477" cy="4874057"/>
            <a:chOff x="1885950" y="1440770"/>
            <a:chExt cx="5372100" cy="4190886"/>
          </a:xfrm>
        </p:grpSpPr>
        <p:sp>
          <p:nvSpPr>
            <p:cNvPr id="4" name="Rounded Rectangle 1">
              <a:extLst>
                <a:ext uri="{FF2B5EF4-FFF2-40B4-BE49-F238E27FC236}">
                  <a16:creationId xmlns:a16="http://schemas.microsoft.com/office/drawing/2014/main" id="{547D0AE9-4F73-D254-0EBD-8A2033E6F9B7}"/>
                </a:ext>
              </a:extLst>
            </p:cNvPr>
            <p:cNvSpPr/>
            <p:nvPr/>
          </p:nvSpPr>
          <p:spPr>
            <a:xfrm>
              <a:off x="2343150" y="1974056"/>
              <a:ext cx="1600200" cy="457200"/>
            </a:xfrm>
            <a:custGeom>
              <a:avLst/>
              <a:gdLst/>
              <a:ahLst/>
              <a:cxnLst/>
              <a:rect l="0" t="0" r="0" b="0"/>
              <a:pathLst>
                <a:path w="1600200" h="457200">
                  <a:moveTo>
                    <a:pt x="0" y="457200"/>
                  </a:moveTo>
                  <a:lnTo>
                    <a:pt x="1600200" y="457200"/>
                  </a:lnTo>
                  <a:cubicBezTo>
                    <a:pt x="1600200" y="308991"/>
                    <a:pt x="1600200" y="114300"/>
                    <a:pt x="1600200" y="114300"/>
                  </a:cubicBezTo>
                  <a:lnTo>
                    <a:pt x="1600200" y="89449"/>
                  </a:lnTo>
                  <a:cubicBezTo>
                    <a:pt x="1600200" y="40052"/>
                    <a:pt x="1561357" y="0"/>
                    <a:pt x="1513446" y="0"/>
                  </a:cubicBezTo>
                  <a:lnTo>
                    <a:pt x="86753" y="0"/>
                  </a:lnTo>
                  <a:cubicBezTo>
                    <a:pt x="38842" y="0"/>
                    <a:pt x="0" y="40052"/>
                    <a:pt x="0" y="89449"/>
                  </a:cubicBezTo>
                  <a:lnTo>
                    <a:pt x="0" y="457200"/>
                  </a:lnTo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ounded Rectangle 2">
              <a:extLst>
                <a:ext uri="{FF2B5EF4-FFF2-40B4-BE49-F238E27FC236}">
                  <a16:creationId xmlns:a16="http://schemas.microsoft.com/office/drawing/2014/main" id="{0919BD16-60A1-6962-7C9B-FE5C9B84D0BF}"/>
                </a:ext>
              </a:extLst>
            </p:cNvPr>
            <p:cNvSpPr/>
            <p:nvPr/>
          </p:nvSpPr>
          <p:spPr>
            <a:xfrm>
              <a:off x="2343150" y="1974056"/>
              <a:ext cx="1600200" cy="457200"/>
            </a:xfrm>
            <a:custGeom>
              <a:avLst/>
              <a:gdLst/>
              <a:ahLst/>
              <a:cxnLst/>
              <a:rect l="0" t="0" r="0" b="0"/>
              <a:pathLst>
                <a:path w="1600200" h="457200">
                  <a:moveTo>
                    <a:pt x="1600200" y="114300"/>
                  </a:moveTo>
                  <a:lnTo>
                    <a:pt x="1600200" y="95250"/>
                  </a:lnTo>
                  <a:cubicBezTo>
                    <a:pt x="1600200" y="42645"/>
                    <a:pt x="1557554" y="0"/>
                    <a:pt x="15049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lnTo>
                    <a:pt x="0" y="114300"/>
                  </a:lnTo>
                  <a:moveTo>
                    <a:pt x="0" y="457200"/>
                  </a:moveTo>
                  <a:lnTo>
                    <a:pt x="0" y="114300"/>
                  </a:lnTo>
                  <a:moveTo>
                    <a:pt x="1600200" y="114300"/>
                  </a:moveTo>
                  <a:lnTo>
                    <a:pt x="1600200" y="285750"/>
                  </a:lnTo>
                  <a:lnTo>
                    <a:pt x="1600200" y="457200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ounded Rectangle 3">
              <a:extLst>
                <a:ext uri="{FF2B5EF4-FFF2-40B4-BE49-F238E27FC236}">
                  <a16:creationId xmlns:a16="http://schemas.microsoft.com/office/drawing/2014/main" id="{6994BE87-25CD-1EE4-A677-AA9630B74552}"/>
                </a:ext>
              </a:extLst>
            </p:cNvPr>
            <p:cNvSpPr/>
            <p:nvPr/>
          </p:nvSpPr>
          <p:spPr>
            <a:xfrm>
              <a:off x="5200650" y="1974056"/>
              <a:ext cx="1600200" cy="457200"/>
            </a:xfrm>
            <a:custGeom>
              <a:avLst/>
              <a:gdLst/>
              <a:ahLst/>
              <a:cxnLst/>
              <a:rect l="0" t="0" r="0" b="0"/>
              <a:pathLst>
                <a:path w="1600200" h="457200">
                  <a:moveTo>
                    <a:pt x="0" y="457200"/>
                  </a:moveTo>
                  <a:lnTo>
                    <a:pt x="1600200" y="457200"/>
                  </a:lnTo>
                  <a:cubicBezTo>
                    <a:pt x="1600200" y="308991"/>
                    <a:pt x="1600200" y="114300"/>
                    <a:pt x="1600200" y="114300"/>
                  </a:cubicBezTo>
                  <a:lnTo>
                    <a:pt x="1600200" y="89449"/>
                  </a:lnTo>
                  <a:cubicBezTo>
                    <a:pt x="1600200" y="40052"/>
                    <a:pt x="1561357" y="0"/>
                    <a:pt x="1513446" y="0"/>
                  </a:cubicBezTo>
                  <a:lnTo>
                    <a:pt x="86753" y="0"/>
                  </a:lnTo>
                  <a:cubicBezTo>
                    <a:pt x="38842" y="0"/>
                    <a:pt x="0" y="40052"/>
                    <a:pt x="0" y="89449"/>
                  </a:cubicBezTo>
                  <a:lnTo>
                    <a:pt x="0" y="457200"/>
                  </a:lnTo>
                </a:path>
              </a:pathLst>
            </a:custGeom>
            <a:solidFill>
              <a:srgbClr val="E5575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4">
              <a:extLst>
                <a:ext uri="{FF2B5EF4-FFF2-40B4-BE49-F238E27FC236}">
                  <a16:creationId xmlns:a16="http://schemas.microsoft.com/office/drawing/2014/main" id="{F7BE616E-F13A-F53A-C5F9-E714A4FF6B83}"/>
                </a:ext>
              </a:extLst>
            </p:cNvPr>
            <p:cNvSpPr/>
            <p:nvPr/>
          </p:nvSpPr>
          <p:spPr>
            <a:xfrm>
              <a:off x="5200650" y="1974056"/>
              <a:ext cx="1600200" cy="457200"/>
            </a:xfrm>
            <a:custGeom>
              <a:avLst/>
              <a:gdLst/>
              <a:ahLst/>
              <a:cxnLst/>
              <a:rect l="0" t="0" r="0" b="0"/>
              <a:pathLst>
                <a:path w="1600200" h="457200">
                  <a:moveTo>
                    <a:pt x="1600200" y="114300"/>
                  </a:moveTo>
                  <a:lnTo>
                    <a:pt x="1600200" y="95250"/>
                  </a:lnTo>
                  <a:cubicBezTo>
                    <a:pt x="1600200" y="42645"/>
                    <a:pt x="1557554" y="0"/>
                    <a:pt x="15049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lnTo>
                    <a:pt x="0" y="114300"/>
                  </a:lnTo>
                  <a:moveTo>
                    <a:pt x="0" y="457200"/>
                  </a:moveTo>
                  <a:lnTo>
                    <a:pt x="0" y="114300"/>
                  </a:lnTo>
                  <a:moveTo>
                    <a:pt x="1600200" y="114300"/>
                  </a:moveTo>
                  <a:lnTo>
                    <a:pt x="1600200" y="285750"/>
                  </a:lnTo>
                  <a:lnTo>
                    <a:pt x="1600200" y="457200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ounded Rectangle 5">
              <a:extLst>
                <a:ext uri="{FF2B5EF4-FFF2-40B4-BE49-F238E27FC236}">
                  <a16:creationId xmlns:a16="http://schemas.microsoft.com/office/drawing/2014/main" id="{4B9840EC-B6C4-5E34-A62F-56D69F9EDDDC}"/>
                </a:ext>
              </a:extLst>
            </p:cNvPr>
            <p:cNvSpPr/>
            <p:nvPr/>
          </p:nvSpPr>
          <p:spPr>
            <a:xfrm>
              <a:off x="1885950" y="2431256"/>
              <a:ext cx="2514600" cy="3200400"/>
            </a:xfrm>
            <a:custGeom>
              <a:avLst/>
              <a:gdLst/>
              <a:ahLst/>
              <a:cxnLst/>
              <a:rect l="0" t="0" r="0" b="0"/>
              <a:pathLst>
                <a:path w="2514600" h="3200400">
                  <a:moveTo>
                    <a:pt x="0" y="3009900"/>
                  </a:moveTo>
                  <a:cubicBezTo>
                    <a:pt x="0" y="3115113"/>
                    <a:pt x="85286" y="3200400"/>
                    <a:pt x="190500" y="3200400"/>
                  </a:cubicBezTo>
                  <a:lnTo>
                    <a:pt x="2324100" y="3200400"/>
                  </a:lnTo>
                  <a:cubicBezTo>
                    <a:pt x="2429313" y="3200400"/>
                    <a:pt x="2514600" y="3115113"/>
                    <a:pt x="2514600" y="3009900"/>
                  </a:cubicBezTo>
                  <a:lnTo>
                    <a:pt x="2514600" y="190500"/>
                  </a:lnTo>
                  <a:cubicBezTo>
                    <a:pt x="2514600" y="85286"/>
                    <a:pt x="2429313" y="0"/>
                    <a:pt x="2324100" y="0"/>
                  </a:cubicBezTo>
                  <a:lnTo>
                    <a:pt x="190500" y="0"/>
                  </a:lnTo>
                  <a:cubicBezTo>
                    <a:pt x="85286" y="0"/>
                    <a:pt x="0" y="85286"/>
                    <a:pt x="0" y="190500"/>
                  </a:cubicBezTo>
                  <a:lnTo>
                    <a:pt x="0" y="3009900"/>
                  </a:lnTo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ounded Rectangle 6">
              <a:extLst>
                <a:ext uri="{FF2B5EF4-FFF2-40B4-BE49-F238E27FC236}">
                  <a16:creationId xmlns:a16="http://schemas.microsoft.com/office/drawing/2014/main" id="{810ECBBB-3C52-5161-07B9-3D8BA09449B8}"/>
                </a:ext>
              </a:extLst>
            </p:cNvPr>
            <p:cNvSpPr/>
            <p:nvPr/>
          </p:nvSpPr>
          <p:spPr>
            <a:xfrm>
              <a:off x="1885950" y="2431256"/>
              <a:ext cx="2514600" cy="3200400"/>
            </a:xfrm>
            <a:custGeom>
              <a:avLst/>
              <a:gdLst/>
              <a:ahLst/>
              <a:cxnLst/>
              <a:rect l="0" t="0" r="0" b="0"/>
              <a:pathLst>
                <a:path w="2514600" h="3200400">
                  <a:moveTo>
                    <a:pt x="2514600" y="228600"/>
                  </a:moveTo>
                  <a:lnTo>
                    <a:pt x="2514600" y="2971800"/>
                  </a:lnTo>
                  <a:moveTo>
                    <a:pt x="0" y="2971800"/>
                  </a:moveTo>
                  <a:lnTo>
                    <a:pt x="0" y="228600"/>
                  </a:lnTo>
                  <a:moveTo>
                    <a:pt x="2514600" y="228600"/>
                  </a:moveTo>
                  <a:lnTo>
                    <a:pt x="2514600" y="190500"/>
                  </a:lnTo>
                  <a:cubicBezTo>
                    <a:pt x="2514600" y="85289"/>
                    <a:pt x="2429310" y="0"/>
                    <a:pt x="2324100" y="0"/>
                  </a:cubicBezTo>
                  <a:lnTo>
                    <a:pt x="2057400" y="0"/>
                  </a:lnTo>
                  <a:lnTo>
                    <a:pt x="457200" y="0"/>
                  </a:lnTo>
                  <a:lnTo>
                    <a:pt x="190500" y="0"/>
                  </a:lnTo>
                  <a:cubicBezTo>
                    <a:pt x="85289" y="0"/>
                    <a:pt x="0" y="85289"/>
                    <a:pt x="0" y="190500"/>
                  </a:cubicBezTo>
                  <a:lnTo>
                    <a:pt x="0" y="228600"/>
                  </a:lnTo>
                  <a:moveTo>
                    <a:pt x="0" y="2971800"/>
                  </a:moveTo>
                  <a:lnTo>
                    <a:pt x="0" y="3009900"/>
                  </a:lnTo>
                  <a:cubicBezTo>
                    <a:pt x="0" y="3115110"/>
                    <a:pt x="85289" y="3200400"/>
                    <a:pt x="190500" y="3200400"/>
                  </a:cubicBezTo>
                  <a:lnTo>
                    <a:pt x="2324100" y="3200400"/>
                  </a:lnTo>
                  <a:cubicBezTo>
                    <a:pt x="2429310" y="3200400"/>
                    <a:pt x="2514600" y="3115110"/>
                    <a:pt x="2514600" y="3009900"/>
                  </a:cubicBezTo>
                  <a:lnTo>
                    <a:pt x="2514600" y="2971800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ounded Rectangle 7">
              <a:extLst>
                <a:ext uri="{FF2B5EF4-FFF2-40B4-BE49-F238E27FC236}">
                  <a16:creationId xmlns:a16="http://schemas.microsoft.com/office/drawing/2014/main" id="{C307147F-3EB4-C466-EDF5-99DCD11CF8C9}"/>
                </a:ext>
              </a:extLst>
            </p:cNvPr>
            <p:cNvSpPr/>
            <p:nvPr/>
          </p:nvSpPr>
          <p:spPr>
            <a:xfrm>
              <a:off x="2114550" y="2659856"/>
              <a:ext cx="2057400" cy="457200"/>
            </a:xfrm>
            <a:custGeom>
              <a:avLst/>
              <a:gdLst/>
              <a:ahLst/>
              <a:cxnLst/>
              <a:rect l="0" t="0" r="0" b="0"/>
              <a:pathLst>
                <a:path w="2057400" h="457200">
                  <a:moveTo>
                    <a:pt x="2057400" y="95250"/>
                  </a:moveTo>
                  <a:cubicBezTo>
                    <a:pt x="2057400" y="42645"/>
                    <a:pt x="2014754" y="0"/>
                    <a:pt x="19621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moveTo>
                    <a:pt x="0" y="361950"/>
                  </a:moveTo>
                  <a:lnTo>
                    <a:pt x="0" y="95250"/>
                  </a:lnTo>
                  <a:moveTo>
                    <a:pt x="2057400" y="95250"/>
                  </a:moveTo>
                  <a:lnTo>
                    <a:pt x="2057400" y="228600"/>
                  </a:lnTo>
                  <a:lnTo>
                    <a:pt x="2057400" y="361950"/>
                  </a:lnTo>
                  <a:moveTo>
                    <a:pt x="0" y="361950"/>
                  </a:moveTo>
                  <a:cubicBezTo>
                    <a:pt x="0" y="414554"/>
                    <a:pt x="42645" y="457200"/>
                    <a:pt x="95250" y="457200"/>
                  </a:cubicBezTo>
                  <a:lnTo>
                    <a:pt x="1962150" y="457200"/>
                  </a:lnTo>
                  <a:cubicBezTo>
                    <a:pt x="1988795" y="457200"/>
                    <a:pt x="2012884" y="446259"/>
                    <a:pt x="2030171" y="428625"/>
                  </a:cubicBezTo>
                  <a:cubicBezTo>
                    <a:pt x="2047014" y="411443"/>
                    <a:pt x="2057400" y="387910"/>
                    <a:pt x="2057400" y="3619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ounded Rectangle 8">
              <a:extLst>
                <a:ext uri="{FF2B5EF4-FFF2-40B4-BE49-F238E27FC236}">
                  <a16:creationId xmlns:a16="http://schemas.microsoft.com/office/drawing/2014/main" id="{36C1D8B8-6636-A766-4B9A-770EEE3C3067}"/>
                </a:ext>
              </a:extLst>
            </p:cNvPr>
            <p:cNvSpPr/>
            <p:nvPr/>
          </p:nvSpPr>
          <p:spPr>
            <a:xfrm>
              <a:off x="2114550" y="3231356"/>
              <a:ext cx="2057400" cy="457200"/>
            </a:xfrm>
            <a:custGeom>
              <a:avLst/>
              <a:gdLst/>
              <a:ahLst/>
              <a:cxnLst/>
              <a:rect l="0" t="0" r="0" b="0"/>
              <a:pathLst>
                <a:path w="2057400" h="457200">
                  <a:moveTo>
                    <a:pt x="2057400" y="95250"/>
                  </a:moveTo>
                  <a:cubicBezTo>
                    <a:pt x="2057400" y="42645"/>
                    <a:pt x="2014754" y="0"/>
                    <a:pt x="19621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moveTo>
                    <a:pt x="0" y="361950"/>
                  </a:moveTo>
                  <a:lnTo>
                    <a:pt x="0" y="95250"/>
                  </a:lnTo>
                  <a:moveTo>
                    <a:pt x="2057400" y="95250"/>
                  </a:moveTo>
                  <a:lnTo>
                    <a:pt x="2057400" y="228600"/>
                  </a:lnTo>
                  <a:lnTo>
                    <a:pt x="2057400" y="361950"/>
                  </a:lnTo>
                  <a:moveTo>
                    <a:pt x="0" y="361950"/>
                  </a:moveTo>
                  <a:cubicBezTo>
                    <a:pt x="0" y="414554"/>
                    <a:pt x="42645" y="457200"/>
                    <a:pt x="95250" y="457200"/>
                  </a:cubicBezTo>
                  <a:lnTo>
                    <a:pt x="1962150" y="457200"/>
                  </a:lnTo>
                  <a:cubicBezTo>
                    <a:pt x="1988795" y="457200"/>
                    <a:pt x="2012884" y="446259"/>
                    <a:pt x="2030171" y="428625"/>
                  </a:cubicBezTo>
                  <a:cubicBezTo>
                    <a:pt x="2047014" y="411443"/>
                    <a:pt x="2057400" y="387910"/>
                    <a:pt x="2057400" y="3619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ounded Rectangle 9">
              <a:extLst>
                <a:ext uri="{FF2B5EF4-FFF2-40B4-BE49-F238E27FC236}">
                  <a16:creationId xmlns:a16="http://schemas.microsoft.com/office/drawing/2014/main" id="{21ACE9B1-35BB-5E7D-78A7-6843E62CDD60}"/>
                </a:ext>
              </a:extLst>
            </p:cNvPr>
            <p:cNvSpPr/>
            <p:nvPr/>
          </p:nvSpPr>
          <p:spPr>
            <a:xfrm>
              <a:off x="2114550" y="3802856"/>
              <a:ext cx="2057400" cy="457200"/>
            </a:xfrm>
            <a:custGeom>
              <a:avLst/>
              <a:gdLst/>
              <a:ahLst/>
              <a:cxnLst/>
              <a:rect l="0" t="0" r="0" b="0"/>
              <a:pathLst>
                <a:path w="2057400" h="457200">
                  <a:moveTo>
                    <a:pt x="2057400" y="95250"/>
                  </a:moveTo>
                  <a:cubicBezTo>
                    <a:pt x="2057400" y="42645"/>
                    <a:pt x="2014754" y="0"/>
                    <a:pt x="19621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moveTo>
                    <a:pt x="0" y="361950"/>
                  </a:moveTo>
                  <a:lnTo>
                    <a:pt x="0" y="95250"/>
                  </a:lnTo>
                  <a:moveTo>
                    <a:pt x="2057400" y="95250"/>
                  </a:moveTo>
                  <a:lnTo>
                    <a:pt x="2057400" y="228600"/>
                  </a:lnTo>
                  <a:lnTo>
                    <a:pt x="2057400" y="361950"/>
                  </a:lnTo>
                  <a:moveTo>
                    <a:pt x="0" y="361950"/>
                  </a:moveTo>
                  <a:cubicBezTo>
                    <a:pt x="0" y="414554"/>
                    <a:pt x="42645" y="457200"/>
                    <a:pt x="95250" y="457200"/>
                  </a:cubicBezTo>
                  <a:lnTo>
                    <a:pt x="1962150" y="457200"/>
                  </a:lnTo>
                  <a:cubicBezTo>
                    <a:pt x="1988795" y="457200"/>
                    <a:pt x="2012884" y="446259"/>
                    <a:pt x="2030171" y="428625"/>
                  </a:cubicBezTo>
                  <a:cubicBezTo>
                    <a:pt x="2047014" y="411443"/>
                    <a:pt x="2057400" y="387910"/>
                    <a:pt x="2057400" y="3619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ounded Rectangle 10">
              <a:extLst>
                <a:ext uri="{FF2B5EF4-FFF2-40B4-BE49-F238E27FC236}">
                  <a16:creationId xmlns:a16="http://schemas.microsoft.com/office/drawing/2014/main" id="{89AE18EF-A358-6829-6812-BABDEDD40720}"/>
                </a:ext>
              </a:extLst>
            </p:cNvPr>
            <p:cNvSpPr/>
            <p:nvPr/>
          </p:nvSpPr>
          <p:spPr>
            <a:xfrm>
              <a:off x="2114550" y="4374356"/>
              <a:ext cx="2057400" cy="457200"/>
            </a:xfrm>
            <a:custGeom>
              <a:avLst/>
              <a:gdLst/>
              <a:ahLst/>
              <a:cxnLst/>
              <a:rect l="0" t="0" r="0" b="0"/>
              <a:pathLst>
                <a:path w="2057400" h="457200">
                  <a:moveTo>
                    <a:pt x="2057400" y="95250"/>
                  </a:moveTo>
                  <a:cubicBezTo>
                    <a:pt x="2057400" y="42645"/>
                    <a:pt x="2014754" y="0"/>
                    <a:pt x="19621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moveTo>
                    <a:pt x="0" y="361950"/>
                  </a:moveTo>
                  <a:lnTo>
                    <a:pt x="0" y="95250"/>
                  </a:lnTo>
                  <a:moveTo>
                    <a:pt x="2057400" y="95250"/>
                  </a:moveTo>
                  <a:lnTo>
                    <a:pt x="2057400" y="228600"/>
                  </a:lnTo>
                  <a:lnTo>
                    <a:pt x="2057400" y="361950"/>
                  </a:lnTo>
                  <a:moveTo>
                    <a:pt x="0" y="361950"/>
                  </a:moveTo>
                  <a:cubicBezTo>
                    <a:pt x="0" y="414554"/>
                    <a:pt x="42645" y="457200"/>
                    <a:pt x="95250" y="457200"/>
                  </a:cubicBezTo>
                  <a:lnTo>
                    <a:pt x="1962150" y="457200"/>
                  </a:lnTo>
                  <a:cubicBezTo>
                    <a:pt x="1988795" y="457200"/>
                    <a:pt x="2012884" y="446259"/>
                    <a:pt x="2030171" y="428625"/>
                  </a:cubicBezTo>
                  <a:cubicBezTo>
                    <a:pt x="2047014" y="411443"/>
                    <a:pt x="2057400" y="387910"/>
                    <a:pt x="2057400" y="3619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ounded Rectangle 11">
              <a:extLst>
                <a:ext uri="{FF2B5EF4-FFF2-40B4-BE49-F238E27FC236}">
                  <a16:creationId xmlns:a16="http://schemas.microsoft.com/office/drawing/2014/main" id="{D6A0B365-D57F-9CBB-23AC-3E35CDD6D825}"/>
                </a:ext>
              </a:extLst>
            </p:cNvPr>
            <p:cNvSpPr/>
            <p:nvPr/>
          </p:nvSpPr>
          <p:spPr>
            <a:xfrm>
              <a:off x="2114550" y="4945856"/>
              <a:ext cx="2057400" cy="457200"/>
            </a:xfrm>
            <a:custGeom>
              <a:avLst/>
              <a:gdLst/>
              <a:ahLst/>
              <a:cxnLst/>
              <a:rect l="0" t="0" r="0" b="0"/>
              <a:pathLst>
                <a:path w="2057400" h="457200">
                  <a:moveTo>
                    <a:pt x="2057400" y="95250"/>
                  </a:moveTo>
                  <a:cubicBezTo>
                    <a:pt x="2057400" y="42645"/>
                    <a:pt x="2014754" y="0"/>
                    <a:pt x="19621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moveTo>
                    <a:pt x="0" y="361950"/>
                  </a:moveTo>
                  <a:lnTo>
                    <a:pt x="0" y="95250"/>
                  </a:lnTo>
                  <a:moveTo>
                    <a:pt x="2057400" y="95250"/>
                  </a:moveTo>
                  <a:lnTo>
                    <a:pt x="2057400" y="228600"/>
                  </a:lnTo>
                  <a:lnTo>
                    <a:pt x="2057400" y="361950"/>
                  </a:lnTo>
                  <a:moveTo>
                    <a:pt x="0" y="361950"/>
                  </a:moveTo>
                  <a:cubicBezTo>
                    <a:pt x="0" y="414554"/>
                    <a:pt x="42645" y="457200"/>
                    <a:pt x="95250" y="457200"/>
                  </a:cubicBezTo>
                  <a:lnTo>
                    <a:pt x="1962150" y="457200"/>
                  </a:lnTo>
                  <a:cubicBezTo>
                    <a:pt x="1988795" y="457200"/>
                    <a:pt x="2012884" y="446259"/>
                    <a:pt x="2030171" y="428625"/>
                  </a:cubicBezTo>
                  <a:cubicBezTo>
                    <a:pt x="2047014" y="411443"/>
                    <a:pt x="2057400" y="387910"/>
                    <a:pt x="2057400" y="3619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ounded Rectangle 12">
              <a:extLst>
                <a:ext uri="{FF2B5EF4-FFF2-40B4-BE49-F238E27FC236}">
                  <a16:creationId xmlns:a16="http://schemas.microsoft.com/office/drawing/2014/main" id="{2A4751A1-D8DC-216C-9E53-BC10B6118057}"/>
                </a:ext>
              </a:extLst>
            </p:cNvPr>
            <p:cNvSpPr/>
            <p:nvPr/>
          </p:nvSpPr>
          <p:spPr>
            <a:xfrm>
              <a:off x="4743450" y="2431256"/>
              <a:ext cx="2514600" cy="3200400"/>
            </a:xfrm>
            <a:custGeom>
              <a:avLst/>
              <a:gdLst/>
              <a:ahLst/>
              <a:cxnLst/>
              <a:rect l="0" t="0" r="0" b="0"/>
              <a:pathLst>
                <a:path w="2514600" h="3200400">
                  <a:moveTo>
                    <a:pt x="0" y="3009900"/>
                  </a:moveTo>
                  <a:cubicBezTo>
                    <a:pt x="0" y="3115113"/>
                    <a:pt x="85286" y="3200400"/>
                    <a:pt x="190500" y="3200400"/>
                  </a:cubicBezTo>
                  <a:lnTo>
                    <a:pt x="2324100" y="3200400"/>
                  </a:lnTo>
                  <a:cubicBezTo>
                    <a:pt x="2429313" y="3200400"/>
                    <a:pt x="2514600" y="3115113"/>
                    <a:pt x="2514600" y="3009900"/>
                  </a:cubicBezTo>
                  <a:lnTo>
                    <a:pt x="2514600" y="190500"/>
                  </a:lnTo>
                  <a:cubicBezTo>
                    <a:pt x="2514600" y="85286"/>
                    <a:pt x="2429313" y="0"/>
                    <a:pt x="2324100" y="0"/>
                  </a:cubicBezTo>
                  <a:lnTo>
                    <a:pt x="190500" y="0"/>
                  </a:lnTo>
                  <a:cubicBezTo>
                    <a:pt x="85286" y="0"/>
                    <a:pt x="0" y="85286"/>
                    <a:pt x="0" y="190500"/>
                  </a:cubicBezTo>
                  <a:lnTo>
                    <a:pt x="0" y="3009900"/>
                  </a:lnTo>
                </a:path>
              </a:pathLst>
            </a:custGeom>
            <a:solidFill>
              <a:srgbClr val="E5575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ounded Rectangle 13">
              <a:extLst>
                <a:ext uri="{FF2B5EF4-FFF2-40B4-BE49-F238E27FC236}">
                  <a16:creationId xmlns:a16="http://schemas.microsoft.com/office/drawing/2014/main" id="{E91EAD19-3DBD-8E2F-70C9-E19E1F2F3389}"/>
                </a:ext>
              </a:extLst>
            </p:cNvPr>
            <p:cNvSpPr/>
            <p:nvPr/>
          </p:nvSpPr>
          <p:spPr>
            <a:xfrm>
              <a:off x="4743450" y="2431256"/>
              <a:ext cx="2514600" cy="3200400"/>
            </a:xfrm>
            <a:custGeom>
              <a:avLst/>
              <a:gdLst/>
              <a:ahLst/>
              <a:cxnLst/>
              <a:rect l="0" t="0" r="0" b="0"/>
              <a:pathLst>
                <a:path w="2514600" h="3200400">
                  <a:moveTo>
                    <a:pt x="2514600" y="228600"/>
                  </a:moveTo>
                  <a:lnTo>
                    <a:pt x="2514600" y="2971800"/>
                  </a:lnTo>
                  <a:moveTo>
                    <a:pt x="0" y="2971800"/>
                  </a:moveTo>
                  <a:lnTo>
                    <a:pt x="0" y="228600"/>
                  </a:lnTo>
                  <a:moveTo>
                    <a:pt x="2514600" y="228600"/>
                  </a:moveTo>
                  <a:lnTo>
                    <a:pt x="2514600" y="190500"/>
                  </a:lnTo>
                  <a:cubicBezTo>
                    <a:pt x="2514600" y="85289"/>
                    <a:pt x="2429310" y="0"/>
                    <a:pt x="2324100" y="0"/>
                  </a:cubicBezTo>
                  <a:lnTo>
                    <a:pt x="2057400" y="0"/>
                  </a:lnTo>
                  <a:lnTo>
                    <a:pt x="457200" y="0"/>
                  </a:lnTo>
                  <a:lnTo>
                    <a:pt x="190500" y="0"/>
                  </a:lnTo>
                  <a:cubicBezTo>
                    <a:pt x="85289" y="0"/>
                    <a:pt x="0" y="85289"/>
                    <a:pt x="0" y="190500"/>
                  </a:cubicBezTo>
                  <a:lnTo>
                    <a:pt x="0" y="228600"/>
                  </a:lnTo>
                  <a:moveTo>
                    <a:pt x="0" y="2971800"/>
                  </a:moveTo>
                  <a:lnTo>
                    <a:pt x="0" y="3009900"/>
                  </a:lnTo>
                  <a:cubicBezTo>
                    <a:pt x="0" y="3115110"/>
                    <a:pt x="85289" y="3200400"/>
                    <a:pt x="190500" y="3200400"/>
                  </a:cubicBezTo>
                  <a:lnTo>
                    <a:pt x="2324100" y="3200400"/>
                  </a:lnTo>
                  <a:cubicBezTo>
                    <a:pt x="2429310" y="3200400"/>
                    <a:pt x="2514600" y="3115110"/>
                    <a:pt x="2514600" y="3009900"/>
                  </a:cubicBezTo>
                  <a:lnTo>
                    <a:pt x="2514600" y="2971800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ounded Rectangle 14">
              <a:extLst>
                <a:ext uri="{FF2B5EF4-FFF2-40B4-BE49-F238E27FC236}">
                  <a16:creationId xmlns:a16="http://schemas.microsoft.com/office/drawing/2014/main" id="{F132A2AC-7685-6161-44C3-639FD2BAF072}"/>
                </a:ext>
              </a:extLst>
            </p:cNvPr>
            <p:cNvSpPr/>
            <p:nvPr/>
          </p:nvSpPr>
          <p:spPr>
            <a:xfrm>
              <a:off x="4972050" y="2659856"/>
              <a:ext cx="2057400" cy="457200"/>
            </a:xfrm>
            <a:custGeom>
              <a:avLst/>
              <a:gdLst/>
              <a:ahLst/>
              <a:cxnLst/>
              <a:rect l="0" t="0" r="0" b="0"/>
              <a:pathLst>
                <a:path w="2057400" h="457200">
                  <a:moveTo>
                    <a:pt x="2057400" y="95250"/>
                  </a:moveTo>
                  <a:cubicBezTo>
                    <a:pt x="2057400" y="42645"/>
                    <a:pt x="2014754" y="0"/>
                    <a:pt x="19621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moveTo>
                    <a:pt x="0" y="361950"/>
                  </a:moveTo>
                  <a:lnTo>
                    <a:pt x="0" y="95250"/>
                  </a:lnTo>
                  <a:moveTo>
                    <a:pt x="2057400" y="95250"/>
                  </a:moveTo>
                  <a:lnTo>
                    <a:pt x="2057400" y="228600"/>
                  </a:lnTo>
                  <a:lnTo>
                    <a:pt x="2057400" y="361950"/>
                  </a:lnTo>
                  <a:moveTo>
                    <a:pt x="0" y="361950"/>
                  </a:moveTo>
                  <a:cubicBezTo>
                    <a:pt x="0" y="414554"/>
                    <a:pt x="42645" y="457200"/>
                    <a:pt x="95250" y="457200"/>
                  </a:cubicBezTo>
                  <a:lnTo>
                    <a:pt x="1962150" y="457200"/>
                  </a:lnTo>
                  <a:cubicBezTo>
                    <a:pt x="1988795" y="457200"/>
                    <a:pt x="2012884" y="446259"/>
                    <a:pt x="2030171" y="428625"/>
                  </a:cubicBezTo>
                  <a:cubicBezTo>
                    <a:pt x="2047014" y="411443"/>
                    <a:pt x="2057400" y="387910"/>
                    <a:pt x="2057400" y="3619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ounded Rectangle 15">
              <a:extLst>
                <a:ext uri="{FF2B5EF4-FFF2-40B4-BE49-F238E27FC236}">
                  <a16:creationId xmlns:a16="http://schemas.microsoft.com/office/drawing/2014/main" id="{B1124330-5F34-A8B0-EC55-DF0924E95633}"/>
                </a:ext>
              </a:extLst>
            </p:cNvPr>
            <p:cNvSpPr/>
            <p:nvPr/>
          </p:nvSpPr>
          <p:spPr>
            <a:xfrm>
              <a:off x="4972050" y="3231356"/>
              <a:ext cx="2057400" cy="457200"/>
            </a:xfrm>
            <a:custGeom>
              <a:avLst/>
              <a:gdLst/>
              <a:ahLst/>
              <a:cxnLst/>
              <a:rect l="0" t="0" r="0" b="0"/>
              <a:pathLst>
                <a:path w="2057400" h="457200">
                  <a:moveTo>
                    <a:pt x="2057400" y="95250"/>
                  </a:moveTo>
                  <a:cubicBezTo>
                    <a:pt x="2057400" y="42645"/>
                    <a:pt x="2014754" y="0"/>
                    <a:pt x="19621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moveTo>
                    <a:pt x="0" y="361950"/>
                  </a:moveTo>
                  <a:lnTo>
                    <a:pt x="0" y="95250"/>
                  </a:lnTo>
                  <a:moveTo>
                    <a:pt x="2057400" y="95250"/>
                  </a:moveTo>
                  <a:lnTo>
                    <a:pt x="2057400" y="228600"/>
                  </a:lnTo>
                  <a:lnTo>
                    <a:pt x="2057400" y="361950"/>
                  </a:lnTo>
                  <a:moveTo>
                    <a:pt x="0" y="361950"/>
                  </a:moveTo>
                  <a:cubicBezTo>
                    <a:pt x="0" y="414554"/>
                    <a:pt x="42645" y="457200"/>
                    <a:pt x="95250" y="457200"/>
                  </a:cubicBezTo>
                  <a:lnTo>
                    <a:pt x="1962150" y="457200"/>
                  </a:lnTo>
                  <a:cubicBezTo>
                    <a:pt x="1988795" y="457200"/>
                    <a:pt x="2012884" y="446259"/>
                    <a:pt x="2030171" y="428625"/>
                  </a:cubicBezTo>
                  <a:cubicBezTo>
                    <a:pt x="2047014" y="411443"/>
                    <a:pt x="2057400" y="387910"/>
                    <a:pt x="2057400" y="3619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ounded Rectangle 16">
              <a:extLst>
                <a:ext uri="{FF2B5EF4-FFF2-40B4-BE49-F238E27FC236}">
                  <a16:creationId xmlns:a16="http://schemas.microsoft.com/office/drawing/2014/main" id="{65D9463F-E522-83D2-A066-FBE89031FF7B}"/>
                </a:ext>
              </a:extLst>
            </p:cNvPr>
            <p:cNvSpPr/>
            <p:nvPr/>
          </p:nvSpPr>
          <p:spPr>
            <a:xfrm>
              <a:off x="4972050" y="3802856"/>
              <a:ext cx="2057400" cy="457200"/>
            </a:xfrm>
            <a:custGeom>
              <a:avLst/>
              <a:gdLst/>
              <a:ahLst/>
              <a:cxnLst/>
              <a:rect l="0" t="0" r="0" b="0"/>
              <a:pathLst>
                <a:path w="2057400" h="457200">
                  <a:moveTo>
                    <a:pt x="2057400" y="95250"/>
                  </a:moveTo>
                  <a:cubicBezTo>
                    <a:pt x="2057400" y="42645"/>
                    <a:pt x="2014754" y="0"/>
                    <a:pt x="1962150" y="0"/>
                  </a:cubicBezTo>
                  <a:lnTo>
                    <a:pt x="95250" y="0"/>
                  </a:lnTo>
                  <a:cubicBezTo>
                    <a:pt x="42645" y="0"/>
                    <a:pt x="0" y="42645"/>
                    <a:pt x="0" y="95250"/>
                  </a:cubicBezTo>
                  <a:moveTo>
                    <a:pt x="0" y="361950"/>
                  </a:moveTo>
                  <a:lnTo>
                    <a:pt x="0" y="95250"/>
                  </a:lnTo>
                  <a:moveTo>
                    <a:pt x="2057400" y="95250"/>
                  </a:moveTo>
                  <a:lnTo>
                    <a:pt x="2057400" y="228600"/>
                  </a:lnTo>
                  <a:lnTo>
                    <a:pt x="2057400" y="361950"/>
                  </a:lnTo>
                  <a:moveTo>
                    <a:pt x="0" y="361950"/>
                  </a:moveTo>
                  <a:cubicBezTo>
                    <a:pt x="0" y="414554"/>
                    <a:pt x="42645" y="457200"/>
                    <a:pt x="95250" y="457200"/>
                  </a:cubicBezTo>
                  <a:lnTo>
                    <a:pt x="1962150" y="457200"/>
                  </a:lnTo>
                  <a:cubicBezTo>
                    <a:pt x="1988795" y="457200"/>
                    <a:pt x="2012884" y="446259"/>
                    <a:pt x="2030171" y="428625"/>
                  </a:cubicBezTo>
                  <a:cubicBezTo>
                    <a:pt x="2047014" y="411443"/>
                    <a:pt x="2057400" y="387910"/>
                    <a:pt x="2057400" y="3619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7CBAE47-521F-8C9A-7F45-B48B55BA6E59}"/>
                </a:ext>
              </a:extLst>
            </p:cNvPr>
            <p:cNvSpPr txBox="1"/>
            <p:nvPr/>
          </p:nvSpPr>
          <p:spPr>
            <a:xfrm>
              <a:off x="5610933" y="2749713"/>
              <a:ext cx="8912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just"/>
              <a:r>
                <a:rPr b="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cost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1E0F22A-6AE8-B732-2BEA-B0E2E1709A04}"/>
                </a:ext>
              </a:extLst>
            </p:cNvPr>
            <p:cNvSpPr txBox="1"/>
            <p:nvPr/>
          </p:nvSpPr>
          <p:spPr>
            <a:xfrm>
              <a:off x="2477378" y="3336082"/>
              <a:ext cx="1358315" cy="2381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just"/>
              <a:r>
                <a:rPr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Inspires adoption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22640E4-7563-0FD5-AC5B-2C61384D3BA0}"/>
                </a:ext>
              </a:extLst>
            </p:cNvPr>
            <p:cNvSpPr txBox="1"/>
            <p:nvPr/>
          </p:nvSpPr>
          <p:spPr>
            <a:xfrm>
              <a:off x="2463050" y="2762054"/>
              <a:ext cx="1467416" cy="2381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just"/>
              <a:r>
                <a:rPr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Real-world impact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0ACEEE-0DE8-A140-F977-5F4C34B82CD2}"/>
                </a:ext>
              </a:extLst>
            </p:cNvPr>
            <p:cNvSpPr txBox="1"/>
            <p:nvPr/>
          </p:nvSpPr>
          <p:spPr>
            <a:xfrm>
              <a:off x="5209695" y="3336082"/>
              <a:ext cx="1693748" cy="2381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just"/>
              <a:r>
                <a:rPr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Technical complexity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681B6E-189F-E763-FE62-8EED42A4DDE1}"/>
                </a:ext>
              </a:extLst>
            </p:cNvPr>
            <p:cNvSpPr txBox="1"/>
            <p:nvPr/>
          </p:nvSpPr>
          <p:spPr>
            <a:xfrm>
              <a:off x="5716397" y="2107406"/>
              <a:ext cx="568693" cy="3175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4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</a:t>
              </a:r>
              <a:endPara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57F29F5-2CA3-9FD8-D6F3-77DA332581AC}"/>
                </a:ext>
              </a:extLst>
            </p:cNvPr>
            <p:cNvSpPr txBox="1"/>
            <p:nvPr/>
          </p:nvSpPr>
          <p:spPr>
            <a:xfrm>
              <a:off x="2415958" y="3892396"/>
              <a:ext cx="1587428" cy="2381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just"/>
              <a:r>
                <a:rPr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Logistics efficiency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C297C5-27CF-E48F-ED70-9F12898D42C5}"/>
                </a:ext>
              </a:extLst>
            </p:cNvPr>
            <p:cNvSpPr txBox="1"/>
            <p:nvPr/>
          </p:nvSpPr>
          <p:spPr>
            <a:xfrm>
              <a:off x="2388682" y="5030791"/>
              <a:ext cx="1641979" cy="2381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just"/>
              <a:r>
                <a:rPr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Research benchmark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B5DE950-985E-73C8-216D-9F629EB4AA77}"/>
                </a:ext>
              </a:extLst>
            </p:cNvPr>
            <p:cNvSpPr txBox="1"/>
            <p:nvPr/>
          </p:nvSpPr>
          <p:spPr>
            <a:xfrm>
              <a:off x="5372664" y="3892396"/>
              <a:ext cx="1478326" cy="2381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just"/>
              <a:r>
                <a:rPr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Limited scalability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76E0DCE-9A9F-66AE-D3DE-8D54693AE80D}"/>
                </a:ext>
              </a:extLst>
            </p:cNvPr>
            <p:cNvSpPr txBox="1"/>
            <p:nvPr/>
          </p:nvSpPr>
          <p:spPr>
            <a:xfrm>
              <a:off x="2891299" y="2107406"/>
              <a:ext cx="503941" cy="3175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400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FEB7228-AD77-9740-3E68-75D8839063B0}"/>
                </a:ext>
              </a:extLst>
            </p:cNvPr>
            <p:cNvSpPr txBox="1"/>
            <p:nvPr/>
          </p:nvSpPr>
          <p:spPr>
            <a:xfrm>
              <a:off x="2432324" y="4470409"/>
              <a:ext cx="1571062" cy="2381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just"/>
              <a:r>
                <a:rPr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Smart city solutions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C53D1D9-A72D-2BB4-2B98-61CFC05840DA}"/>
                </a:ext>
              </a:extLst>
            </p:cNvPr>
            <p:cNvSpPr txBox="1"/>
            <p:nvPr/>
          </p:nvSpPr>
          <p:spPr>
            <a:xfrm>
              <a:off x="3066120" y="1440770"/>
              <a:ext cx="30457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en-IN" sz="2000" b="1" dirty="0">
                  <a:solidFill>
                    <a:srgbClr val="4848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QUANTUM COMPUTING</a:t>
              </a:r>
            </a:p>
          </p:txBody>
        </p:sp>
      </p:grpSp>
      <p:sp>
        <p:nvSpPr>
          <p:cNvPr id="37" name="Oval 36" descr="Your startup LOGO">
            <a:extLst>
              <a:ext uri="{FF2B5EF4-FFF2-40B4-BE49-F238E27FC236}">
                <a16:creationId xmlns:a16="http://schemas.microsoft.com/office/drawing/2014/main" id="{8734DC2E-D5BF-381E-3258-AD6D4CEBA8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4" y="176046"/>
            <a:ext cx="1542570" cy="1143000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5DC83C-9ECF-FAF0-BC44-AF675FB625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C58F270B-26F7-D716-1817-A1A92D46B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55" y="2016170"/>
            <a:ext cx="1025236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Bourreau et al. (2023)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Indirect QAOA for TSP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(efficient small-city circuit design).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Montanez-Barrera et al. (2024)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of QAOA parameters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optimization problems.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Farhi et al. (2014)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Quantum Approximate Optimization Algorithm (QAOA)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original paper.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Hadfield et al. (2019)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Quantum Alternating Operator Ansatz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constrained problems.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Lucas (2014)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Ising formulations of NP problems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(TSP → QUBO).</a:t>
            </a:r>
          </a:p>
        </p:txBody>
      </p: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A76389CD-6D2A-137D-D0AE-8339E5CBC5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4" y="176046"/>
            <a:ext cx="1542570" cy="1143000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7692</TotalTime>
  <Words>415</Words>
  <Application>Microsoft Office PowerPoint</Application>
  <PresentationFormat>Widescreen</PresentationFormat>
  <Paragraphs>137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Roboto</vt:lpstr>
      <vt:lpstr>Times New Roman</vt:lpstr>
      <vt:lpstr>TradeGothic</vt:lpstr>
      <vt:lpstr>Wingdings</vt:lpstr>
      <vt:lpstr>Office Theme</vt:lpstr>
      <vt:lpstr>Amaravati Quantum Valley  Hackathon 2025</vt:lpstr>
      <vt:lpstr> QUANTUM PATH PLANNER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sarath chandrika chillara</cp:lastModifiedBy>
  <cp:revision>153</cp:revision>
  <dcterms:created xsi:type="dcterms:W3CDTF">2013-12-12T18:46:50Z</dcterms:created>
  <dcterms:modified xsi:type="dcterms:W3CDTF">2025-08-24T07:27:51Z</dcterms:modified>
  <cp:category/>
</cp:coreProperties>
</file>